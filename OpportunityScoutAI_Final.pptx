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cd00f4ed4d_1_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cd00f4ed4d_1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g3cd00f4ed4d_1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6" name="Google Shape;76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c9a2acbd5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g3cc9a2acbd5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g3cc9a2acbd5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6" name="Google Shape;32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4" name="Google Shape;38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9" name="Google Shape;449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8" name="Google Shape;49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0" name="Google Shape;53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4" name="Google Shape;564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1" name="Google Shape;601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pportunity-scout-ai.up.railwa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28B8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3520A0"/>
          </a:solidFill>
          <a:ln cap="flat" cmpd="sng" w="12700">
            <a:solidFill>
              <a:srgbClr val="3520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3"/>
          <p:cNvSpPr/>
          <p:nvPr/>
        </p:nvSpPr>
        <p:spPr>
          <a:xfrm>
            <a:off x="457200" y="347472"/>
            <a:ext cx="2834640" cy="27432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3"/>
          <p:cNvSpPr/>
          <p:nvPr/>
        </p:nvSpPr>
        <p:spPr>
          <a:xfrm>
            <a:off x="457200" y="347472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CAPSTONE 2026  |  MORINGA SCHOOL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457200" y="786384"/>
            <a:ext cx="822960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Georgia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Opportunity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457200" y="1444752"/>
            <a:ext cx="822960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BEB"/>
              </a:buClr>
              <a:buSzPts val="5200"/>
              <a:buFont typeface="Georgia"/>
              <a:buNone/>
            </a:pPr>
            <a:r>
              <a:rPr b="1" i="0" lang="en-US" sz="5200" u="none" cap="none" strike="noStrike">
                <a:solidFill>
                  <a:srgbClr val="FFFBEB"/>
                </a:solidFill>
                <a:latin typeface="Georgia"/>
                <a:ea typeface="Georgia"/>
                <a:cs typeface="Georgia"/>
                <a:sym typeface="Georgia"/>
              </a:rPr>
              <a:t>Scout AI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457200" y="2304288"/>
            <a:ext cx="5486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An AI-powered tool for scoring startup opportunities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with explainable, data-driven intelligence.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457200" y="3127248"/>
            <a:ext cx="2286000" cy="32004"/>
          </a:xfrm>
          <a:prstGeom prst="rect">
            <a:avLst/>
          </a:prstGeom>
          <a:solidFill>
            <a:srgbClr val="7C5FE6"/>
          </a:solidFill>
          <a:ln cap="flat" cmpd="sng" w="12700">
            <a:solidFill>
              <a:srgbClr val="7C5F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457200" y="329184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THE TEAM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3584448"/>
            <a:ext cx="1993392" cy="530352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457200" y="3630168"/>
            <a:ext cx="19933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Jeniffer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457200" y="3877056"/>
            <a:ext cx="19933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Data Pipeline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2606040" y="3584448"/>
            <a:ext cx="1993392" cy="530352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2606040" y="3630168"/>
            <a:ext cx="19933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Lilibeth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2606040" y="3877056"/>
            <a:ext cx="19933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Modelling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4754880" y="3584448"/>
            <a:ext cx="1993392" cy="530352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4754880" y="3630168"/>
            <a:ext cx="19933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Lydiah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754880" y="3877056"/>
            <a:ext cx="19933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Explainability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457200" y="4242816"/>
            <a:ext cx="1993392" cy="530352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457200" y="4288536"/>
            <a:ext cx="19933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Kefa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57200" y="4535424"/>
            <a:ext cx="19933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Frontend &amp; Backend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2606040" y="4242816"/>
            <a:ext cx="1993392" cy="530352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3"/>
          <p:cNvSpPr/>
          <p:nvPr/>
        </p:nvSpPr>
        <p:spPr>
          <a:xfrm>
            <a:off x="2606040" y="4288536"/>
            <a:ext cx="19933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Vicky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2606040" y="4535424"/>
            <a:ext cx="19933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Frontend &amp; Backend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457200" y="4846320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opportunity-scout-ai.up.railway.app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0" y="0"/>
            <a:ext cx="9144000" cy="639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502920" y="155448"/>
            <a:ext cx="82296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Overview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An end-to-end ML system for startup opportunity scoring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502920" y="877824"/>
            <a:ext cx="8138100" cy="18300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0" y="4919472"/>
            <a:ext cx="9144000" cy="22410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457200" y="4937760"/>
            <a:ext cx="7863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8412480" y="4937760"/>
            <a:ext cx="548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47447" y="1010390"/>
            <a:ext cx="1965900" cy="35205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47472" y="1024128"/>
            <a:ext cx="1965900" cy="549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1097280" y="1188720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▣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57200" y="1810512"/>
            <a:ext cx="1755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Georgia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One Model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50392" y="2176272"/>
            <a:ext cx="960000" cy="273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475488" y="2286000"/>
            <a:ext cx="1719000" cy="21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LightGBM trained on 25,01</a:t>
            </a: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8 </a:t>
            </a: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ventures across 70 countries and 15 years — producing a 0-100 viability score with confidence interval and percentile ranking.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2468880" y="1024128"/>
            <a:ext cx="1965900" cy="35205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2468880" y="1024128"/>
            <a:ext cx="1965900" cy="54900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3218688" y="1188720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❖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2578608" y="1810512"/>
            <a:ext cx="1755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Georgia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Two Personas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2971800" y="2176272"/>
            <a:ext cx="960000" cy="27300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2596896" y="2286000"/>
            <a:ext cx="1719000" cy="21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Entrepreneur and Investor profiles — same model, different signal weights. Trend-heavy for founders, funding-heavy for investors.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4590288" y="1024128"/>
            <a:ext cx="1965900" cy="35205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4590288" y="1024128"/>
            <a:ext cx="1965900" cy="549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5340096" y="1188720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★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700016" y="1810512"/>
            <a:ext cx="1755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Georgia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Full Explainability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5093208" y="2176272"/>
            <a:ext cx="960000" cy="273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4"/>
          <p:cNvSpPr/>
          <p:nvPr/>
        </p:nvSpPr>
        <p:spPr>
          <a:xfrm>
            <a:off x="4718304" y="2286000"/>
            <a:ext cx="1719000" cy="21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SHAP values break down every score feature by feature, with direction and magnitude. A GDP context engine adds the economic narrative behind every market-year.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711696" y="1024128"/>
            <a:ext cx="1965900" cy="35205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6711696" y="1024128"/>
            <a:ext cx="1965900" cy="549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4"/>
          <p:cNvSpPr/>
          <p:nvPr/>
        </p:nvSpPr>
        <p:spPr>
          <a:xfrm>
            <a:off x="7461504" y="1188720"/>
            <a:ext cx="475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6821424" y="1810512"/>
            <a:ext cx="1755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Georgia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Live &amp; Deployed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7214616" y="2176272"/>
            <a:ext cx="960000" cy="273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6839712" y="2286000"/>
            <a:ext cx="1719000" cy="21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FastAPI backend, real-time signal fetching from Google Trends, World Bank, Reddit and GDELT. Running now on Railway — no login required.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347472" y="4645152"/>
            <a:ext cx="8449200" cy="237600"/>
          </a:xfrm>
          <a:prstGeom prst="rect">
            <a:avLst/>
          </a:prstGeom>
          <a:solidFill>
            <a:srgbClr val="FFFBEB"/>
          </a:solidFill>
          <a:ln cap="flat" cmpd="sng" w="12700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347472" y="4645152"/>
            <a:ext cx="84492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Built for emerging markets.  ◆  Designed for action.  ◆  Free to use for now.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0F8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Problem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Why does startup evaluation need fixing?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457200" y="1005840"/>
            <a:ext cx="8229600" cy="1143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8100000" dist="50800">
              <a:srgbClr val="503CB4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457200" y="1005840"/>
            <a:ext cx="109728" cy="11430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713232" y="1078992"/>
            <a:ext cx="781812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50"/>
              <a:buFont typeface="Calibri"/>
              <a:buNone/>
            </a:pPr>
            <a:r>
              <a:rPr i="1" lang="en-US" sz="13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Two founders, same Fintech idea, same Nairobi market - </a:t>
            </a:r>
            <a:r>
              <a:rPr i="1" lang="en-US" sz="13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one raised a million dollars, one shut down within a year. The market conditions were identical. The difference was not the idea - it was who had the right information and who didn't. We built the tool that closes that gap."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457200" y="2377440"/>
            <a:ext cx="2633472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457200" y="2377440"/>
            <a:ext cx="2633472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5"/>
          <p:cNvSpPr/>
          <p:nvPr/>
        </p:nvSpPr>
        <p:spPr>
          <a:xfrm>
            <a:off x="621792" y="2514600"/>
            <a:ext cx="347472" cy="347472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621792" y="2514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621792" y="2944368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Georgia"/>
              <a:buNone/>
            </a:pPr>
            <a:r>
              <a:rPr b="1" lang="en-US" sz="11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No Unified Scoring Standard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21792" y="3401568"/>
            <a:ext cx="230428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Evaluation relies on gut feel, scattered data, and personal bias. No objective benchmark exists across industries, markets, or geographies.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3291840" y="2377440"/>
            <a:ext cx="2633472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3291840" y="2377440"/>
            <a:ext cx="2633472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3456432" y="2514600"/>
            <a:ext cx="347472" cy="347472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3456432" y="2514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3456432" y="2944368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Georgia"/>
              <a:buNone/>
            </a:pPr>
            <a:r>
              <a:rPr b="1" lang="en-US" sz="11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Emerging Markets Are Invisible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456432" y="3401568"/>
            <a:ext cx="230428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Tools built for USA miss African and South-East Asian realities — GDP context, local funding ecosystems, and regional market signals.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6126480" y="2377440"/>
            <a:ext cx="2633472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6126480" y="2377440"/>
            <a:ext cx="2633472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6291072" y="2514600"/>
            <a:ext cx="347472" cy="347472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6291072" y="2514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6291072" y="2862068"/>
            <a:ext cx="2304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50"/>
              <a:buFont typeface="Georgia"/>
              <a:buNone/>
            </a:pPr>
            <a:r>
              <a:rPr b="1" lang="en-US" sz="11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AI Without Explanation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6291072" y="3401568"/>
            <a:ext cx="230428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Existing AI tools give a number but not a reason. Entrepreneurs cannot act, investors cannot trust, and no one learns from a black-box score.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Objectives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What we set out to build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365760" y="1005840"/>
            <a:ext cx="2743200" cy="173736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6"/>
          <p:cNvSpPr/>
          <p:nvPr/>
        </p:nvSpPr>
        <p:spPr>
          <a:xfrm>
            <a:off x="365760" y="1005840"/>
            <a:ext cx="274320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502920" y="1170432"/>
            <a:ext cx="384048" cy="38404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502920" y="11704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1005840" y="1188720"/>
            <a:ext cx="19933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Automated Data Pipeline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502920" y="1664208"/>
            <a:ext cx="24688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Collect 8 live signals from Google Trends, World Bank GDP, Reddit, and GDELT news — with robust CSV fallbacks when APIs are unavailable.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3273552" y="1005840"/>
            <a:ext cx="2743200" cy="173736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3273552" y="1005840"/>
            <a:ext cx="274320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3410712" y="1170432"/>
            <a:ext cx="384048" cy="38404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3410712" y="11704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3913632" y="1188720"/>
            <a:ext cx="19933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LightGBM Scoring Model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3410712" y="1664208"/>
            <a:ext cx="24688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Train on 25,016 ventures (2005-2020) to predict a 0-100 viability score with confidence interval and percentile ranking.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6181344" y="1005840"/>
            <a:ext cx="2743200" cy="173736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6181344" y="1005840"/>
            <a:ext cx="274320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6318504" y="1170432"/>
            <a:ext cx="384048" cy="38404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6318504" y="11704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6821424" y="1188720"/>
            <a:ext cx="19933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Dual Scoring Profiles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318504" y="1664208"/>
            <a:ext cx="24688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Entrepreneur (trend-heavy, 35% weight) and Investor (funding-heavy, 22% weight) — same model, different signal weight layers applied on output.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365760" y="2926080"/>
            <a:ext cx="2743200" cy="173736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365760" y="2926080"/>
            <a:ext cx="274320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502920" y="3090672"/>
            <a:ext cx="384048" cy="38404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502920" y="30906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1005840" y="3108960"/>
            <a:ext cx="19933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SHAP Explainability + GDP Context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502920" y="3584448"/>
            <a:ext cx="24688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Use SHAP values to explain every score point by feature — direction and magnitude. A GDP context engine adds the economic narrative for every market-year.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3273552" y="2926080"/>
            <a:ext cx="2743200" cy="173736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3273552" y="2926080"/>
            <a:ext cx="274320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3410712" y="3090672"/>
            <a:ext cx="384048" cy="38404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3410712" y="30906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3913632" y="3108960"/>
            <a:ext cx="19933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What-If Simulator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3410712" y="3584448"/>
            <a:ext cx="24688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Adjust funding, year, and market signals to see score shifts in real time. Entrepreneurs and investors plan their next move before committing.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6181344" y="2926080"/>
            <a:ext cx="2743200" cy="173736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6181344" y="2926080"/>
            <a:ext cx="274320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6318504" y="3090672"/>
            <a:ext cx="384048" cy="38404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6318504" y="30906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6821424" y="3108960"/>
            <a:ext cx="199339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Production Web Application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6318504" y="3584448"/>
            <a:ext cx="2468880" cy="9692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Full-stack FastAPI + HTML/JS app with Score, What-If Simulator, and Compare tools — deployed live on Railway, no login required.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0F8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Data Pipeline 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From raw signals to a scored, validated output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347472" y="1005840"/>
            <a:ext cx="1938528" cy="2606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347472" y="1005840"/>
            <a:ext cx="1938528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1060704" y="107899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🌐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57200" y="1664208"/>
            <a:ext cx="17190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Georgia"/>
              <a:buNone/>
            </a:pPr>
            <a:r>
              <a:rPr b="1" lang="en-US" sz="10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Source APIs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457200" y="1993400"/>
            <a:ext cx="1719000" cy="118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Google Trends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World Bank GDP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Reddit (PullPush)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GDELT (BigQuery)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+ CSV Fallback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2304288" y="212140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&gt;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2468880" y="1005840"/>
            <a:ext cx="1938528" cy="2606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2468880" y="1005840"/>
            <a:ext cx="1938528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3182112" y="107899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⚙️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2578625" y="1600198"/>
            <a:ext cx="1719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Georgia"/>
              <a:buNone/>
            </a:pPr>
            <a:r>
              <a:rPr b="1" lang="en-US" sz="10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8 Core Signals &amp; </a:t>
            </a:r>
            <a:endParaRPr b="1" sz="1050">
              <a:solidFill>
                <a:srgbClr val="1A1A2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Georgia"/>
              <a:buNone/>
            </a:pPr>
            <a:r>
              <a:rPr b="1" lang="en-US" sz="10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Feature Engineering</a:t>
            </a:r>
            <a:endParaRPr b="1" sz="1050">
              <a:solidFill>
                <a:srgbClr val="1A1A2E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2578600" y="1993401"/>
            <a:ext cx="1719000" cy="17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trend_slope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news_sentiment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gdp_growth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reddit_density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news_volume</a:t>
            </a:r>
            <a:endParaRPr sz="900">
              <a:solidFill>
                <a:srgbClr val="55557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inflation</a:t>
            </a:r>
            <a:endParaRPr sz="900">
              <a:solidFill>
                <a:srgbClr val="55557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startup_density</a:t>
            </a:r>
            <a:endParaRPr sz="900">
              <a:solidFill>
                <a:srgbClr val="55557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log_funding</a:t>
            </a:r>
            <a:endParaRPr sz="900">
              <a:solidFill>
                <a:srgbClr val="55557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&amp; </a:t>
            </a: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70+ features built</a:t>
            </a:r>
            <a:endParaRPr sz="900">
              <a:solidFill>
                <a:srgbClr val="55557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4425696" y="212140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&gt;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4590288" y="1005840"/>
            <a:ext cx="1938528" cy="2606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"/>
          <p:cNvSpPr/>
          <p:nvPr/>
        </p:nvSpPr>
        <p:spPr>
          <a:xfrm>
            <a:off x="4590288" y="1005840"/>
            <a:ext cx="1938528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303520" y="107899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🔢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4700016" y="1664208"/>
            <a:ext cx="17190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Georgia"/>
              <a:buNone/>
            </a:pPr>
            <a:r>
              <a:rPr b="1" lang="en-US" sz="10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Validate + Score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4700025" y="1993400"/>
            <a:ext cx="1719000" cy="128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validate_signals()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score_data_quality()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Weighted formula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across the 8 signal families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Range: 0–100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Entrepreneur/Investor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weight layers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547104" y="212140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&gt;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6688836" y="1005840"/>
            <a:ext cx="1938528" cy="2606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"/>
          <p:cNvSpPr/>
          <p:nvPr/>
        </p:nvSpPr>
        <p:spPr>
          <a:xfrm>
            <a:off x="6711696" y="1005840"/>
            <a:ext cx="1938528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7"/>
          <p:cNvSpPr/>
          <p:nvPr/>
        </p:nvSpPr>
        <p:spPr>
          <a:xfrm>
            <a:off x="7424928" y="107899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📦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6821424" y="1664208"/>
            <a:ext cx="17190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50"/>
              <a:buFont typeface="Georgia"/>
              <a:buNone/>
            </a:pPr>
            <a:r>
              <a:rPr b="1" lang="en-US" sz="10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Training Dataset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821425" y="1993400"/>
            <a:ext cx="1719000" cy="11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25,018 ventures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2005-2020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70+ countries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80 features each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80/20 train-test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347472" y="3767328"/>
            <a:ext cx="8449056" cy="10241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7"/>
          <p:cNvSpPr/>
          <p:nvPr/>
        </p:nvSpPr>
        <p:spPr>
          <a:xfrm>
            <a:off x="347472" y="3767328"/>
            <a:ext cx="8449056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502920" y="385876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DUAL SCORING PROFILES — signal weights from pipeline notebook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521208" y="4137660"/>
            <a:ext cx="3840480" cy="566928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621792" y="4142232"/>
            <a:ext cx="360273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ENTREPRENEUR PROFILE — Is this market fertile enough to start in?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580644" y="4377690"/>
            <a:ext cx="731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trend_slope: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35%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1272441" y="4389061"/>
            <a:ext cx="774390" cy="2224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news_sentiment: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25%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2133699" y="4352544"/>
            <a:ext cx="731520" cy="295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gdp_growth: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15%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2871216" y="4352544"/>
            <a:ext cx="731520" cy="3044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reddit_density: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12%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3685032" y="4386210"/>
            <a:ext cx="682653" cy="2252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news_volume: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 8%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4617720" y="4133088"/>
            <a:ext cx="4069080" cy="566928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7"/>
          <p:cNvSpPr/>
          <p:nvPr/>
        </p:nvSpPr>
        <p:spPr>
          <a:xfrm>
            <a:off x="4754880" y="4142232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INVESTOR PROFILE — Has this company earned its score?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754880" y="4361480"/>
            <a:ext cx="685800" cy="272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log_funding: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 22%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5522976" y="4358778"/>
            <a:ext cx="777240" cy="272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trend_slope: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20%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6300216" y="4370416"/>
            <a:ext cx="777240" cy="2720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news_sentiment: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   18%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7174477" y="4358363"/>
            <a:ext cx="777240" cy="2782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news_volume: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  10%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7936992" y="4352544"/>
            <a:ext cx="777240" cy="2782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reddit_density: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             10%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0F8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8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Model Selection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Why LightGBM won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457200" y="1005840"/>
            <a:ext cx="8229600" cy="47548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457200" y="1005840"/>
            <a:ext cx="91440" cy="47548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685800" y="1042416"/>
            <a:ext cx="78181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Four models were trained on the same 25,016 ventures with the same 77-feature matrix. Results are from the test set (20% holdout). LightGBM was selected for production.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457200" y="1627632"/>
            <a:ext cx="4114800" cy="3063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594360" y="173736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MEAN ABSOLUTE ERROR (lower is better)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594360" y="20848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Gradient Boost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1874520" y="2121408"/>
            <a:ext cx="2743200" cy="18288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8"/>
          <p:cNvSpPr/>
          <p:nvPr/>
        </p:nvSpPr>
        <p:spPr>
          <a:xfrm>
            <a:off x="1874520" y="2121408"/>
            <a:ext cx="1559883" cy="182880"/>
          </a:xfrm>
          <a:prstGeom prst="rect">
            <a:avLst/>
          </a:prstGeom>
          <a:solidFill>
            <a:srgbClr val="B0A0E8"/>
          </a:solidFill>
          <a:ln cap="flat" cmpd="sng" w="12700">
            <a:solidFill>
              <a:srgbClr val="B0A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3489267" y="212140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0.1251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594360" y="27249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1874520" y="2761488"/>
            <a:ext cx="2743200" cy="18288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8"/>
          <p:cNvSpPr/>
          <p:nvPr/>
        </p:nvSpPr>
        <p:spPr>
          <a:xfrm>
            <a:off x="1874520" y="2761488"/>
            <a:ext cx="1599784" cy="182880"/>
          </a:xfrm>
          <a:prstGeom prst="rect">
            <a:avLst/>
          </a:prstGeom>
          <a:solidFill>
            <a:srgbClr val="B0A0E8"/>
          </a:solidFill>
          <a:ln cap="flat" cmpd="sng" w="12700">
            <a:solidFill>
              <a:srgbClr val="B0A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8"/>
          <p:cNvSpPr/>
          <p:nvPr/>
        </p:nvSpPr>
        <p:spPr>
          <a:xfrm>
            <a:off x="3529168" y="276148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0.1283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594360" y="336499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LightGBM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1874520" y="3401568"/>
            <a:ext cx="2743200" cy="18288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1874520" y="3401568"/>
            <a:ext cx="1880339" cy="18288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"/>
          <p:cNvSpPr/>
          <p:nvPr/>
        </p:nvSpPr>
        <p:spPr>
          <a:xfrm>
            <a:off x="3809723" y="340156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0.1508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4251960" y="3401568"/>
            <a:ext cx="228600" cy="18288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4251960" y="3383280"/>
            <a:ext cx="228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*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594360" y="400507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1874520" y="4041648"/>
            <a:ext cx="2743200" cy="18288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1874520" y="4041648"/>
            <a:ext cx="2332967" cy="182880"/>
          </a:xfrm>
          <a:prstGeom prst="rect">
            <a:avLst/>
          </a:prstGeom>
          <a:solidFill>
            <a:srgbClr val="B0A0E8"/>
          </a:solidFill>
          <a:ln cap="flat" cmpd="sng" w="12700">
            <a:solidFill>
              <a:srgbClr val="B0A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4262351" y="40416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0.1871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754880" y="1627632"/>
            <a:ext cx="3931920" cy="3063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8"/>
          <p:cNvSpPr/>
          <p:nvPr/>
        </p:nvSpPr>
        <p:spPr>
          <a:xfrm>
            <a:off x="4892040" y="1737360"/>
            <a:ext cx="3611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R2 SCORE + TRAINING TIME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4892040" y="20848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Gradient Boost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6172200" y="2084832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R2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6473952" y="2121408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8"/>
          <p:cNvSpPr/>
          <p:nvPr/>
        </p:nvSpPr>
        <p:spPr>
          <a:xfrm>
            <a:off x="6473952" y="2121408"/>
            <a:ext cx="1124231" cy="109728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7973568" y="2084832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0.9973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6172200" y="2286000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i="1"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6473952" y="2322576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8"/>
          <p:cNvSpPr/>
          <p:nvPr/>
        </p:nvSpPr>
        <p:spPr>
          <a:xfrm>
            <a:off x="6473952" y="2322576"/>
            <a:ext cx="1392364" cy="109728"/>
          </a:xfrm>
          <a:prstGeom prst="rect">
            <a:avLst/>
          </a:prstGeom>
          <a:solidFill>
            <a:srgbClr val="9090A8"/>
          </a:solidFill>
          <a:ln cap="flat" cmpd="sng" w="12700">
            <a:solidFill>
              <a:srgbClr val="9090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7973568" y="2286000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61.9s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4892040" y="27249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6172200" y="2724912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R2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6473952" y="2761488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8"/>
          <p:cNvSpPr/>
          <p:nvPr/>
        </p:nvSpPr>
        <p:spPr>
          <a:xfrm>
            <a:off x="6473952" y="2761488"/>
            <a:ext cx="1124231" cy="109728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8"/>
          <p:cNvSpPr/>
          <p:nvPr/>
        </p:nvSpPr>
        <p:spPr>
          <a:xfrm>
            <a:off x="7973568" y="2724912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0.9973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6172200" y="2926080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i="1"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6473952" y="2962656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"/>
          <p:cNvSpPr/>
          <p:nvPr/>
        </p:nvSpPr>
        <p:spPr>
          <a:xfrm>
            <a:off x="6473952" y="2962656"/>
            <a:ext cx="401323" cy="109728"/>
          </a:xfrm>
          <a:prstGeom prst="rect">
            <a:avLst/>
          </a:prstGeom>
          <a:solidFill>
            <a:srgbClr val="9090A8"/>
          </a:solidFill>
          <a:ln cap="flat" cmpd="sng" w="12700">
            <a:solidFill>
              <a:srgbClr val="9090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8"/>
          <p:cNvSpPr/>
          <p:nvPr/>
        </p:nvSpPr>
        <p:spPr>
          <a:xfrm>
            <a:off x="7973568" y="2926080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17.8s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4892040" y="336499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LightGBM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6172200" y="3364992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R2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6473952" y="3401568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8"/>
          <p:cNvSpPr/>
          <p:nvPr/>
        </p:nvSpPr>
        <p:spPr>
          <a:xfrm>
            <a:off x="6473952" y="3401568"/>
            <a:ext cx="1247434" cy="109728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8"/>
          <p:cNvSpPr/>
          <p:nvPr/>
        </p:nvSpPr>
        <p:spPr>
          <a:xfrm>
            <a:off x="7973568" y="3364992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0.9981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6172200" y="3566160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i="1"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6473952" y="3602736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"/>
          <p:cNvSpPr/>
          <p:nvPr/>
        </p:nvSpPr>
        <p:spPr>
          <a:xfrm>
            <a:off x="6473952" y="3602736"/>
            <a:ext cx="226884" cy="109728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8"/>
          <p:cNvSpPr/>
          <p:nvPr/>
        </p:nvSpPr>
        <p:spPr>
          <a:xfrm>
            <a:off x="7973568" y="3566160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10.1s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4892040" y="400507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6172200" y="4005072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R2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6473952" y="4041648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8"/>
          <p:cNvSpPr/>
          <p:nvPr/>
        </p:nvSpPr>
        <p:spPr>
          <a:xfrm>
            <a:off x="6473952" y="4041648"/>
            <a:ext cx="739220" cy="109728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8"/>
          <p:cNvSpPr/>
          <p:nvPr/>
        </p:nvSpPr>
        <p:spPr>
          <a:xfrm>
            <a:off x="7973568" y="4005072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0.9948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6172200" y="4206240"/>
            <a:ext cx="2560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i="1"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6473952" y="4242816"/>
            <a:ext cx="1463040" cy="1097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8"/>
          <p:cNvSpPr/>
          <p:nvPr/>
        </p:nvSpPr>
        <p:spPr>
          <a:xfrm>
            <a:off x="6473952" y="4242816"/>
            <a:ext cx="371612" cy="109728"/>
          </a:xfrm>
          <a:prstGeom prst="rect">
            <a:avLst/>
          </a:prstGeom>
          <a:solidFill>
            <a:srgbClr val="9090A8"/>
          </a:solidFill>
          <a:ln cap="flat" cmpd="sng" w="12700">
            <a:solidFill>
              <a:srgbClr val="9090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8"/>
          <p:cNvSpPr/>
          <p:nvPr/>
        </p:nvSpPr>
        <p:spPr>
          <a:xfrm>
            <a:off x="7973568" y="4206240"/>
            <a:ext cx="6217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16.5s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457200" y="4709160"/>
            <a:ext cx="8229600" cy="18288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8"/>
          <p:cNvSpPr/>
          <p:nvPr/>
        </p:nvSpPr>
        <p:spPr>
          <a:xfrm>
            <a:off x="530352" y="4709160"/>
            <a:ext cx="80832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Why LightGBM: Gradient Boost had slightly lower MAE but 6x slower (61s). LightGBM: best R2 (0.9981), fastest (10s), excellent MAE (0.15). Speed + accuracy = production choice.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9"/>
          <p:cNvSpPr/>
          <p:nvPr/>
        </p:nvSpPr>
        <p:spPr>
          <a:xfrm>
            <a:off x="0" y="0"/>
            <a:ext cx="9144000" cy="639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9"/>
          <p:cNvSpPr/>
          <p:nvPr/>
        </p:nvSpPr>
        <p:spPr>
          <a:xfrm>
            <a:off x="502920" y="155448"/>
            <a:ext cx="82296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Model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 LightGBM trained on 25,000+ ventures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502920" y="877824"/>
            <a:ext cx="8138100" cy="18300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9"/>
          <p:cNvSpPr/>
          <p:nvPr/>
        </p:nvSpPr>
        <p:spPr>
          <a:xfrm>
            <a:off x="0" y="4919472"/>
            <a:ext cx="9144000" cy="22410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9"/>
          <p:cNvSpPr/>
          <p:nvPr/>
        </p:nvSpPr>
        <p:spPr>
          <a:xfrm>
            <a:off x="457200" y="4937760"/>
            <a:ext cx="7863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·  Moringa School Capstone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/>
          <p:nvPr/>
        </p:nvSpPr>
        <p:spPr>
          <a:xfrm>
            <a:off x="8412480" y="4937760"/>
            <a:ext cx="548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/>
          <p:nvPr/>
        </p:nvSpPr>
        <p:spPr>
          <a:xfrm>
            <a:off x="411480" y="1005840"/>
            <a:ext cx="4224600" cy="11703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9"/>
          <p:cNvSpPr/>
          <p:nvPr/>
        </p:nvSpPr>
        <p:spPr>
          <a:xfrm>
            <a:off x="411480" y="1005840"/>
            <a:ext cx="91500" cy="11703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9"/>
          <p:cNvSpPr/>
          <p:nvPr/>
        </p:nvSpPr>
        <p:spPr>
          <a:xfrm>
            <a:off x="658368" y="1115568"/>
            <a:ext cx="3749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Algorithm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658368" y="1408176"/>
            <a:ext cx="37491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LightGBM gradient-boosted trees. Fast, accurate, and handles 77 mixed-type features natively. Chosen over XGBoost for speed and memory efficiency at scale.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411480" y="2304288"/>
            <a:ext cx="4224600" cy="11703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9"/>
          <p:cNvSpPr/>
          <p:nvPr/>
        </p:nvSpPr>
        <p:spPr>
          <a:xfrm>
            <a:off x="411480" y="2304288"/>
            <a:ext cx="91500" cy="11703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9"/>
          <p:cNvSpPr/>
          <p:nvPr/>
        </p:nvSpPr>
        <p:spPr>
          <a:xfrm>
            <a:off x="658368" y="2414016"/>
            <a:ext cx="3749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Training Data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658368" y="2706624"/>
            <a:ext cx="37491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25,016 ventures spanning 2005–2020. Time-based train/test split (80/20). 77 engineered signals per venture including 9 interaction terms.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411480" y="3602736"/>
            <a:ext cx="4224600" cy="11703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9"/>
          <p:cNvSpPr/>
          <p:nvPr/>
        </p:nvSpPr>
        <p:spPr>
          <a:xfrm>
            <a:off x="411480" y="3602736"/>
            <a:ext cx="91500" cy="117030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9"/>
          <p:cNvSpPr/>
          <p:nvPr/>
        </p:nvSpPr>
        <p:spPr>
          <a:xfrm>
            <a:off x="658368" y="3712464"/>
            <a:ext cx="3749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Dual-Profile Output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658368" y="4005072"/>
            <a:ext cx="37491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Entrepreneur weights trend + economic signals. Investor weights funding validation + ecosystem depth. Same model, different weight layer on output.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4892040" y="1005840"/>
            <a:ext cx="3840600" cy="38589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9"/>
          <p:cNvSpPr/>
          <p:nvPr/>
        </p:nvSpPr>
        <p:spPr>
          <a:xfrm>
            <a:off x="5047488" y="1115568"/>
            <a:ext cx="3529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MODEL PERFORMANCE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5047488" y="1463040"/>
            <a:ext cx="349290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9"/>
          <p:cNvSpPr/>
          <p:nvPr/>
        </p:nvSpPr>
        <p:spPr>
          <a:xfrm>
            <a:off x="5184648" y="1527048"/>
            <a:ext cx="19659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Mean Absolute Error (MAE)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7132320" y="1499616"/>
            <a:ext cx="1298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800"/>
              <a:buFont typeface="Georgia"/>
              <a:buNone/>
            </a:pPr>
            <a:r>
              <a:rPr b="1" i="0" lang="en-US" sz="1800" u="none" cap="none" strike="noStrike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2.47 pts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5184648" y="1883664"/>
            <a:ext cx="3108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Target was &lt; 10 pts — exceeded by 4×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5047488" y="2267712"/>
            <a:ext cx="349290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9"/>
          <p:cNvSpPr/>
          <p:nvPr/>
        </p:nvSpPr>
        <p:spPr>
          <a:xfrm>
            <a:off x="5184648" y="2331720"/>
            <a:ext cx="19659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R² Score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7132320" y="2304288"/>
            <a:ext cx="1298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800"/>
              <a:buFont typeface="Georgia"/>
              <a:buNone/>
            </a:pPr>
            <a:r>
              <a:rPr b="1" i="0" lang="en-US" sz="1800" u="none" cap="none" strike="noStrike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0.92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5184648" y="2688336"/>
            <a:ext cx="3108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Model explains 92% of score variance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5047488" y="3072384"/>
            <a:ext cx="349290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9"/>
          <p:cNvSpPr/>
          <p:nvPr/>
        </p:nvSpPr>
        <p:spPr>
          <a:xfrm>
            <a:off x="5184648" y="3136392"/>
            <a:ext cx="19659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Top-Quartile Accuracy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7132320" y="3108960"/>
            <a:ext cx="1298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800"/>
              <a:buFont typeface="Georgia"/>
              <a:buNone/>
            </a:pPr>
            <a:r>
              <a:rPr b="1" i="0" lang="en-US" sz="1800" u="none" cap="none" strike="noStrike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89%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5184648" y="3493008"/>
            <a:ext cx="3108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Correctly identifies top opportunities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5047488" y="3877056"/>
            <a:ext cx="349290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9"/>
          <p:cNvSpPr/>
          <p:nvPr/>
        </p:nvSpPr>
        <p:spPr>
          <a:xfrm>
            <a:off x="5184648" y="3941064"/>
            <a:ext cx="19659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Inference Time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7132320" y="3913632"/>
            <a:ext cx="1298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1800"/>
              <a:buFont typeface="Georgia"/>
              <a:buNone/>
            </a:pPr>
            <a:r>
              <a:rPr b="1" i="0" lang="en-US" sz="1800" u="none" cap="none" strike="noStrike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&lt; 200ms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5184648" y="4297680"/>
            <a:ext cx="3108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Full pipeline incl. live signal fetch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0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Findings &amp; Analysis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0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What the data revealed about startup opportunity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0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0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/>
          <p:nvPr/>
        </p:nvSpPr>
        <p:spPr>
          <a:xfrm>
            <a:off x="411480" y="1005840"/>
            <a:ext cx="4005072" cy="1115568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0"/>
          <p:cNvSpPr/>
          <p:nvPr/>
        </p:nvSpPr>
        <p:spPr>
          <a:xfrm>
            <a:off x="411480" y="1005840"/>
            <a:ext cx="91440" cy="1115568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0"/>
          <p:cNvSpPr/>
          <p:nvPr/>
        </p:nvSpPr>
        <p:spPr>
          <a:xfrm>
            <a:off x="658368" y="1097280"/>
            <a:ext cx="1280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3200"/>
              <a:buFont typeface="Georgia"/>
              <a:buNone/>
            </a:pPr>
            <a:r>
              <a:rPr b="1" lang="en-US" sz="3200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25</a:t>
            </a:r>
            <a:r>
              <a:rPr b="1" lang="en-US" sz="2000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K+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/>
          <p:nvPr/>
        </p:nvSpPr>
        <p:spPr>
          <a:xfrm>
            <a:off x="2029968" y="1133856"/>
            <a:ext cx="2212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lang="en-US" sz="12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Ventures Analysed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/>
          <p:nvPr/>
        </p:nvSpPr>
        <p:spPr>
          <a:xfrm>
            <a:off x="2029968" y="1463040"/>
            <a:ext cx="221284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Spanning 2005-2020, 70+ countries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/>
          <p:nvPr/>
        </p:nvSpPr>
        <p:spPr>
          <a:xfrm>
            <a:off x="411480" y="2304288"/>
            <a:ext cx="4005072" cy="1115568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0"/>
          <p:cNvSpPr/>
          <p:nvPr/>
        </p:nvSpPr>
        <p:spPr>
          <a:xfrm>
            <a:off x="411480" y="2304288"/>
            <a:ext cx="91440" cy="1115568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0"/>
          <p:cNvSpPr/>
          <p:nvPr/>
        </p:nvSpPr>
        <p:spPr>
          <a:xfrm>
            <a:off x="658368" y="2395728"/>
            <a:ext cx="1280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3200"/>
              <a:buFont typeface="Georgia"/>
              <a:buNone/>
            </a:pPr>
            <a:r>
              <a:rPr b="1" lang="en-US" sz="3200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80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/>
          <p:nvPr/>
        </p:nvSpPr>
        <p:spPr>
          <a:xfrm>
            <a:off x="2029968" y="2432304"/>
            <a:ext cx="2212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lang="en-US" sz="12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Features per Venture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029968" y="2761488"/>
            <a:ext cx="221284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Including 9 interaction terms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/>
          <p:nvPr/>
        </p:nvSpPr>
        <p:spPr>
          <a:xfrm>
            <a:off x="411480" y="3602736"/>
            <a:ext cx="4005072" cy="1115568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0"/>
          <p:cNvSpPr/>
          <p:nvPr/>
        </p:nvSpPr>
        <p:spPr>
          <a:xfrm>
            <a:off x="411480" y="3602736"/>
            <a:ext cx="91440" cy="1115568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0"/>
          <p:cNvSpPr/>
          <p:nvPr/>
        </p:nvSpPr>
        <p:spPr>
          <a:xfrm>
            <a:off x="658368" y="3694176"/>
            <a:ext cx="1280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2400"/>
              <a:buFont typeface="Georgia"/>
              <a:buNone/>
            </a:pPr>
            <a:r>
              <a:rPr b="1" lang="en-US" sz="2400">
                <a:solidFill>
                  <a:srgbClr val="5B3FD4"/>
                </a:solidFill>
                <a:latin typeface="Georgia"/>
                <a:ea typeface="Georgia"/>
                <a:cs typeface="Georgia"/>
                <a:sym typeface="Georgia"/>
              </a:rPr>
              <a:t>0.9994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2029968" y="3730752"/>
            <a:ext cx="2212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lang="en-US" sz="12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Test Set R2 Score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2029968" y="4059936"/>
            <a:ext cx="221284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Final model explains 99.9% of variance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4645152" y="1005840"/>
            <a:ext cx="4087368" cy="379476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0"/>
          <p:cNvSpPr/>
          <p:nvPr/>
        </p:nvSpPr>
        <p:spPr>
          <a:xfrm>
            <a:off x="4800600" y="1115568"/>
            <a:ext cx="3767328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TOP SHAP FEATURE IMPORTANCE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4800600" y="1353312"/>
            <a:ext cx="37673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Mean |SHAP| values from CRISP-DM evaluation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4800600" y="166420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funding_total_usd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4800600" y="1874520"/>
            <a:ext cx="2971800" cy="13716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0"/>
          <p:cNvSpPr/>
          <p:nvPr/>
        </p:nvSpPr>
        <p:spPr>
          <a:xfrm>
            <a:off x="4800600" y="1874520"/>
            <a:ext cx="2971800" cy="13716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0"/>
          <p:cNvSpPr/>
          <p:nvPr/>
        </p:nvSpPr>
        <p:spPr>
          <a:xfrm>
            <a:off x="7827264" y="185623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1.65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4800600" y="212140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market_validation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4800600" y="2331720"/>
            <a:ext cx="2971800" cy="13716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0"/>
          <p:cNvSpPr/>
          <p:nvPr/>
        </p:nvSpPr>
        <p:spPr>
          <a:xfrm>
            <a:off x="4800600" y="2331720"/>
            <a:ext cx="2953789" cy="13716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0"/>
          <p:cNvSpPr/>
          <p:nvPr/>
        </p:nvSpPr>
        <p:spPr>
          <a:xfrm>
            <a:off x="7809253" y="231343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1.64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4800600" y="257860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trend_slope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4800600" y="2788920"/>
            <a:ext cx="2971800" cy="13716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0"/>
          <p:cNvSpPr/>
          <p:nvPr/>
        </p:nvSpPr>
        <p:spPr>
          <a:xfrm>
            <a:off x="4800600" y="2788920"/>
            <a:ext cx="1729047" cy="137160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6584511" y="277063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0.96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4800600" y="303580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trend_x_sentiment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4800600" y="3246120"/>
            <a:ext cx="2971800" cy="13716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0"/>
          <p:cNvSpPr/>
          <p:nvPr/>
        </p:nvSpPr>
        <p:spPr>
          <a:xfrm>
            <a:off x="4800600" y="3246120"/>
            <a:ext cx="1134687" cy="137160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0"/>
          <p:cNvSpPr/>
          <p:nvPr/>
        </p:nvSpPr>
        <p:spPr>
          <a:xfrm>
            <a:off x="5990151" y="322783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0.63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4800600" y="349300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log_funding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4800600" y="3703320"/>
            <a:ext cx="2971800" cy="13716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4800600" y="3703320"/>
            <a:ext cx="1062644" cy="13716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5918108" y="368503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0.59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4800600" y="395020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funding_per_round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4800600" y="4160520"/>
            <a:ext cx="2971800" cy="13716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0"/>
          <p:cNvSpPr/>
          <p:nvPr/>
        </p:nvSpPr>
        <p:spPr>
          <a:xfrm>
            <a:off x="4800600" y="4160520"/>
            <a:ext cx="486295" cy="13716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0"/>
          <p:cNvSpPr/>
          <p:nvPr/>
        </p:nvSpPr>
        <p:spPr>
          <a:xfrm>
            <a:off x="5341759" y="414223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0.27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4800600" y="440740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founded_year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4800600" y="4617720"/>
            <a:ext cx="2971800" cy="137160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0"/>
          <p:cNvSpPr/>
          <p:nvPr/>
        </p:nvSpPr>
        <p:spPr>
          <a:xfrm>
            <a:off x="4800600" y="4617720"/>
            <a:ext cx="486295" cy="13716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5341759" y="459943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0.27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0F8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1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Explainability Engine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1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Making every score understandable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1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1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411480" y="1005840"/>
            <a:ext cx="4279500" cy="37947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566928" y="1124712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WHY DID THIS SCORE 61?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566928" y="1353312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Kenya Fintech  |  2019  |  Investor View  |  Base: 51.1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1"/>
          <p:cNvSpPr/>
          <p:nvPr/>
        </p:nvSpPr>
        <p:spPr>
          <a:xfrm>
            <a:off x="566928" y="1719072"/>
            <a:ext cx="3931920" cy="43891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1"/>
          <p:cNvSpPr/>
          <p:nvPr/>
        </p:nvSpPr>
        <p:spPr>
          <a:xfrm>
            <a:off x="566928" y="1719072"/>
            <a:ext cx="36576" cy="438912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685800" y="1773936"/>
            <a:ext cx="162763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trend slope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2395728" y="1856232"/>
            <a:ext cx="1463040" cy="128016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2395728" y="1856232"/>
            <a:ext cx="1053389" cy="128016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3886200" y="1801368"/>
            <a:ext cx="457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+4.2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1"/>
          <p:cNvSpPr/>
          <p:nvPr/>
        </p:nvSpPr>
        <p:spPr>
          <a:xfrm>
            <a:off x="566928" y="2231136"/>
            <a:ext cx="3931920" cy="43891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1"/>
          <p:cNvSpPr/>
          <p:nvPr/>
        </p:nvSpPr>
        <p:spPr>
          <a:xfrm>
            <a:off x="566928" y="2231136"/>
            <a:ext cx="36576" cy="438912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1"/>
          <p:cNvSpPr/>
          <p:nvPr/>
        </p:nvSpPr>
        <p:spPr>
          <a:xfrm>
            <a:off x="685800" y="2286000"/>
            <a:ext cx="162763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gdp growth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1"/>
          <p:cNvSpPr/>
          <p:nvPr/>
        </p:nvSpPr>
        <p:spPr>
          <a:xfrm>
            <a:off x="2395728" y="2368296"/>
            <a:ext cx="1463040" cy="128016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1"/>
          <p:cNvSpPr/>
          <p:nvPr/>
        </p:nvSpPr>
        <p:spPr>
          <a:xfrm>
            <a:off x="2395728" y="2368296"/>
            <a:ext cx="950976" cy="128016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1"/>
          <p:cNvSpPr/>
          <p:nvPr/>
        </p:nvSpPr>
        <p:spPr>
          <a:xfrm>
            <a:off x="3886200" y="2313432"/>
            <a:ext cx="457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+3.8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566928" y="2743200"/>
            <a:ext cx="3931920" cy="43891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566928" y="2743200"/>
            <a:ext cx="36576" cy="438912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1"/>
          <p:cNvSpPr/>
          <p:nvPr/>
        </p:nvSpPr>
        <p:spPr>
          <a:xfrm>
            <a:off x="685800" y="2798064"/>
            <a:ext cx="162763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market validation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1"/>
          <p:cNvSpPr/>
          <p:nvPr/>
        </p:nvSpPr>
        <p:spPr>
          <a:xfrm>
            <a:off x="2395728" y="2880360"/>
            <a:ext cx="1463040" cy="128016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1"/>
          <p:cNvSpPr/>
          <p:nvPr/>
        </p:nvSpPr>
        <p:spPr>
          <a:xfrm>
            <a:off x="2395728" y="2880360"/>
            <a:ext cx="775411" cy="128016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1"/>
          <p:cNvSpPr/>
          <p:nvPr/>
        </p:nvSpPr>
        <p:spPr>
          <a:xfrm>
            <a:off x="3886200" y="2825496"/>
            <a:ext cx="457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+3.1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1"/>
          <p:cNvSpPr/>
          <p:nvPr/>
        </p:nvSpPr>
        <p:spPr>
          <a:xfrm>
            <a:off x="566928" y="3255264"/>
            <a:ext cx="3931920" cy="43891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1"/>
          <p:cNvSpPr/>
          <p:nvPr/>
        </p:nvSpPr>
        <p:spPr>
          <a:xfrm>
            <a:off x="566928" y="3255264"/>
            <a:ext cx="36576" cy="438912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1"/>
          <p:cNvSpPr/>
          <p:nvPr/>
        </p:nvSpPr>
        <p:spPr>
          <a:xfrm>
            <a:off x="685800" y="3310128"/>
            <a:ext cx="162763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news sentiment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2395728" y="3392424"/>
            <a:ext cx="1463040" cy="128016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1"/>
          <p:cNvSpPr/>
          <p:nvPr/>
        </p:nvSpPr>
        <p:spPr>
          <a:xfrm>
            <a:off x="2395728" y="3392424"/>
            <a:ext cx="482803" cy="128016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1"/>
          <p:cNvSpPr/>
          <p:nvPr/>
        </p:nvSpPr>
        <p:spPr>
          <a:xfrm>
            <a:off x="3886200" y="3337560"/>
            <a:ext cx="457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+1.9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1"/>
          <p:cNvSpPr/>
          <p:nvPr/>
        </p:nvSpPr>
        <p:spPr>
          <a:xfrm>
            <a:off x="566928" y="3767328"/>
            <a:ext cx="3931920" cy="43891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1"/>
          <p:cNvSpPr/>
          <p:nvPr/>
        </p:nvSpPr>
        <p:spPr>
          <a:xfrm>
            <a:off x="566928" y="3767328"/>
            <a:ext cx="36576" cy="438912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1"/>
          <p:cNvSpPr/>
          <p:nvPr/>
        </p:nvSpPr>
        <p:spPr>
          <a:xfrm>
            <a:off x="685800" y="3822192"/>
            <a:ext cx="162763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funding total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1"/>
          <p:cNvSpPr/>
          <p:nvPr/>
        </p:nvSpPr>
        <p:spPr>
          <a:xfrm>
            <a:off x="2395728" y="3904488"/>
            <a:ext cx="1463040" cy="128016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1"/>
          <p:cNvSpPr/>
          <p:nvPr/>
        </p:nvSpPr>
        <p:spPr>
          <a:xfrm>
            <a:off x="2395728" y="3904488"/>
            <a:ext cx="775411" cy="128016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1"/>
          <p:cNvSpPr/>
          <p:nvPr/>
        </p:nvSpPr>
        <p:spPr>
          <a:xfrm>
            <a:off x="3886200" y="3849624"/>
            <a:ext cx="457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-3.1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1"/>
          <p:cNvSpPr/>
          <p:nvPr/>
        </p:nvSpPr>
        <p:spPr>
          <a:xfrm>
            <a:off x="566928" y="4407408"/>
            <a:ext cx="3931920" cy="27432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1"/>
          <p:cNvSpPr/>
          <p:nvPr/>
        </p:nvSpPr>
        <p:spPr>
          <a:xfrm>
            <a:off x="658368" y="4425696"/>
            <a:ext cx="3749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GDP Context: Kenya's economy expanded 8.1% in 2010 as telecoms, trade and construction rebounded.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1"/>
          <p:cNvSpPr/>
          <p:nvPr/>
        </p:nvSpPr>
        <p:spPr>
          <a:xfrm>
            <a:off x="4919472" y="1005840"/>
            <a:ext cx="3813000" cy="37947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1"/>
          <p:cNvSpPr/>
          <p:nvPr/>
        </p:nvSpPr>
        <p:spPr>
          <a:xfrm>
            <a:off x="5074920" y="1124712"/>
            <a:ext cx="34930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HOW EXPLAINABILITY WORKS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1"/>
          <p:cNvSpPr/>
          <p:nvPr/>
        </p:nvSpPr>
        <p:spPr>
          <a:xfrm>
            <a:off x="5074920" y="1481328"/>
            <a:ext cx="3492900" cy="7131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1"/>
          <p:cNvSpPr/>
          <p:nvPr/>
        </p:nvSpPr>
        <p:spPr>
          <a:xfrm>
            <a:off x="5074920" y="1481328"/>
            <a:ext cx="64008" cy="713232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1"/>
          <p:cNvSpPr/>
          <p:nvPr/>
        </p:nvSpPr>
        <p:spPr>
          <a:xfrm>
            <a:off x="5212075" y="1472300"/>
            <a:ext cx="3200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SHAP Values + GDP Context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1"/>
          <p:cNvSpPr/>
          <p:nvPr/>
        </p:nvSpPr>
        <p:spPr>
          <a:xfrm>
            <a:off x="5212080" y="1746504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For every prediction, SHAP computes values for all 77 features. Returns top 10 by absolute impact. GDP context engine adds a one-sentence economic narrative — 168 curated events + Anthropic API fallback.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1"/>
          <p:cNvSpPr/>
          <p:nvPr/>
        </p:nvSpPr>
        <p:spPr>
          <a:xfrm>
            <a:off x="5074920" y="2304288"/>
            <a:ext cx="3493008" cy="71323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1"/>
          <p:cNvSpPr/>
          <p:nvPr/>
        </p:nvSpPr>
        <p:spPr>
          <a:xfrm>
            <a:off x="5074920" y="2304288"/>
            <a:ext cx="64008" cy="713232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1"/>
          <p:cNvSpPr/>
          <p:nvPr/>
        </p:nvSpPr>
        <p:spPr>
          <a:xfrm>
            <a:off x="5212080" y="236829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Direction &amp; Magnitude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1"/>
          <p:cNvSpPr/>
          <p:nvPr/>
        </p:nvSpPr>
        <p:spPr>
          <a:xfrm>
            <a:off x="5212080" y="2615184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Each factor shows whether it boosted or dragged the score — and by exactly how many points. Not just a ranked list. Positive = green, negative = red.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1"/>
          <p:cNvSpPr/>
          <p:nvPr/>
        </p:nvSpPr>
        <p:spPr>
          <a:xfrm>
            <a:off x="5074920" y="3127248"/>
            <a:ext cx="3493008" cy="71323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5074920" y="3127248"/>
            <a:ext cx="64008" cy="713232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1"/>
          <p:cNvSpPr/>
          <p:nvPr/>
        </p:nvSpPr>
        <p:spPr>
          <a:xfrm>
            <a:off x="5212080" y="319125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What-If Simulator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5212080" y="3438144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Adjust funding, year, signals — watch the score shift live. Built on top of the same SHAP pipeline; every what-if scenario re-runs inference in &lt; 200ms.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5074920" y="3950208"/>
            <a:ext cx="3493008" cy="71323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1"/>
          <p:cNvSpPr/>
          <p:nvPr/>
        </p:nvSpPr>
        <p:spPr>
          <a:xfrm>
            <a:off x="5074920" y="3950208"/>
            <a:ext cx="64008" cy="713232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1"/>
          <p:cNvSpPr/>
          <p:nvPr/>
        </p:nvSpPr>
        <p:spPr>
          <a:xfrm>
            <a:off x="5212080" y="401421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Georgia"/>
              <a:buNone/>
            </a:pPr>
            <a:r>
              <a:rPr b="1" lang="en-US" sz="11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Natural Language Generation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5212080" y="4261104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SHAP values converted to plain English sentences per feature. 'funding_total_usd positively influenced prediction (SHAP: +1.40).' Ready for non-technical users.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2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Product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2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Frontend, Backend &amp; Deployment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12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2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2"/>
          <p:cNvSpPr/>
          <p:nvPr/>
        </p:nvSpPr>
        <p:spPr>
          <a:xfrm>
            <a:off x="411480" y="1005840"/>
            <a:ext cx="2697480" cy="20574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2"/>
          <p:cNvSpPr/>
          <p:nvPr/>
        </p:nvSpPr>
        <p:spPr>
          <a:xfrm>
            <a:off x="411480" y="1005840"/>
            <a:ext cx="269748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2"/>
          <p:cNvSpPr/>
          <p:nvPr/>
        </p:nvSpPr>
        <p:spPr>
          <a:xfrm>
            <a:off x="1435608" y="1115568"/>
            <a:ext cx="65836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2"/>
          <p:cNvSpPr/>
          <p:nvPr/>
        </p:nvSpPr>
        <p:spPr>
          <a:xfrm>
            <a:off x="548640" y="166420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50"/>
              <a:buFont typeface="Georgia"/>
              <a:buNone/>
            </a:pPr>
            <a:r>
              <a:rPr b="1" lang="en-US" sz="12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Score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2"/>
          <p:cNvSpPr/>
          <p:nvPr/>
        </p:nvSpPr>
        <p:spPr>
          <a:xfrm>
            <a:off x="548640" y="1993392"/>
            <a:ext cx="2423160" cy="10241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Enter venture name, industry, country, year and funding. Get a SHAP-explained 0-100 score with confidence interval and percentile in seconds.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2"/>
          <p:cNvSpPr/>
          <p:nvPr/>
        </p:nvSpPr>
        <p:spPr>
          <a:xfrm>
            <a:off x="3264408" y="1005840"/>
            <a:ext cx="2697480" cy="20574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2"/>
          <p:cNvSpPr/>
          <p:nvPr/>
        </p:nvSpPr>
        <p:spPr>
          <a:xfrm>
            <a:off x="3264408" y="1005840"/>
            <a:ext cx="269748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2"/>
          <p:cNvSpPr/>
          <p:nvPr/>
        </p:nvSpPr>
        <p:spPr>
          <a:xfrm>
            <a:off x="4288536" y="1115568"/>
            <a:ext cx="65836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2"/>
          <p:cNvSpPr/>
          <p:nvPr/>
        </p:nvSpPr>
        <p:spPr>
          <a:xfrm>
            <a:off x="3401568" y="166420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50"/>
              <a:buFont typeface="Georgia"/>
              <a:buNone/>
            </a:pPr>
            <a:r>
              <a:rPr b="1" lang="en-US" sz="12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What-If Simulator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2"/>
          <p:cNvSpPr/>
          <p:nvPr/>
        </p:nvSpPr>
        <p:spPr>
          <a:xfrm>
            <a:off x="3401568" y="1993392"/>
            <a:ext cx="2423160" cy="10241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Slide funding and founding year to see the score shift in real time. Understand which levers move your opportunity score most.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2"/>
          <p:cNvSpPr/>
          <p:nvPr/>
        </p:nvSpPr>
        <p:spPr>
          <a:xfrm>
            <a:off x="6117336" y="1005840"/>
            <a:ext cx="2697480" cy="205740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2"/>
          <p:cNvSpPr/>
          <p:nvPr/>
        </p:nvSpPr>
        <p:spPr>
          <a:xfrm>
            <a:off x="6117336" y="1005840"/>
            <a:ext cx="269748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2"/>
          <p:cNvSpPr/>
          <p:nvPr/>
        </p:nvSpPr>
        <p:spPr>
          <a:xfrm>
            <a:off x="7141464" y="1115568"/>
            <a:ext cx="65836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⚖️</a:t>
            </a:r>
            <a:endParaRPr b="1" sz="600">
              <a:solidFill>
                <a:srgbClr val="5B3FD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2"/>
          <p:cNvSpPr/>
          <p:nvPr/>
        </p:nvSpPr>
        <p:spPr>
          <a:xfrm>
            <a:off x="6254496" y="166420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50"/>
              <a:buFont typeface="Georgia"/>
              <a:buNone/>
            </a:pPr>
            <a:r>
              <a:rPr b="1" lang="en-US" sz="125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Compare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2"/>
          <p:cNvSpPr/>
          <p:nvPr/>
        </p:nvSpPr>
        <p:spPr>
          <a:xfrm>
            <a:off x="6254496" y="1993392"/>
            <a:ext cx="2423160" cy="10241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Add multiple ventures side by side. Score them all as Investor or Entrepreneur and identify the strongest opportunity in any portfolio.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2"/>
          <p:cNvSpPr/>
          <p:nvPr/>
        </p:nvSpPr>
        <p:spPr>
          <a:xfrm>
            <a:off x="411480" y="3200400"/>
            <a:ext cx="8321040" cy="1536192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12"/>
          <p:cNvSpPr/>
          <p:nvPr/>
        </p:nvSpPr>
        <p:spPr>
          <a:xfrm>
            <a:off x="566928" y="3310128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TECH STACK &amp; ARCHITECTURE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2"/>
          <p:cNvSpPr/>
          <p:nvPr/>
        </p:nvSpPr>
        <p:spPr>
          <a:xfrm>
            <a:off x="566928" y="3584448"/>
            <a:ext cx="1481328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2"/>
          <p:cNvSpPr/>
          <p:nvPr/>
        </p:nvSpPr>
        <p:spPr>
          <a:xfrm>
            <a:off x="566928" y="3584448"/>
            <a:ext cx="1481328" cy="4572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2"/>
          <p:cNvSpPr/>
          <p:nvPr/>
        </p:nvSpPr>
        <p:spPr>
          <a:xfrm>
            <a:off x="566928" y="3648456"/>
            <a:ext cx="148132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2"/>
          <p:cNvSpPr/>
          <p:nvPr/>
        </p:nvSpPr>
        <p:spPr>
          <a:xfrm>
            <a:off x="640080" y="3913632"/>
            <a:ext cx="13350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HTML5 + CSS3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Vanilla JS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Single-page app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2"/>
          <p:cNvSpPr/>
          <p:nvPr/>
        </p:nvSpPr>
        <p:spPr>
          <a:xfrm>
            <a:off x="2194560" y="3584448"/>
            <a:ext cx="1481328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2"/>
          <p:cNvSpPr/>
          <p:nvPr/>
        </p:nvSpPr>
        <p:spPr>
          <a:xfrm>
            <a:off x="2194560" y="3584448"/>
            <a:ext cx="1481328" cy="4572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2"/>
          <p:cNvSpPr/>
          <p:nvPr/>
        </p:nvSpPr>
        <p:spPr>
          <a:xfrm>
            <a:off x="2194560" y="3648456"/>
            <a:ext cx="148132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2"/>
          <p:cNvSpPr/>
          <p:nvPr/>
        </p:nvSpPr>
        <p:spPr>
          <a:xfrm>
            <a:off x="2267712" y="3913632"/>
            <a:ext cx="13350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FastAPI (Python)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REST endpoints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Live + fallback signals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2"/>
          <p:cNvSpPr/>
          <p:nvPr/>
        </p:nvSpPr>
        <p:spPr>
          <a:xfrm>
            <a:off x="3822192" y="3584448"/>
            <a:ext cx="1481328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2"/>
          <p:cNvSpPr/>
          <p:nvPr/>
        </p:nvSpPr>
        <p:spPr>
          <a:xfrm>
            <a:off x="3822192" y="3584448"/>
            <a:ext cx="1481328" cy="4572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2"/>
          <p:cNvSpPr/>
          <p:nvPr/>
        </p:nvSpPr>
        <p:spPr>
          <a:xfrm>
            <a:off x="3822192" y="3648456"/>
            <a:ext cx="148132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ML Layer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3895344" y="3913632"/>
            <a:ext cx="13350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LightGBM + SHAP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Pickled model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Live inference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5449824" y="3584448"/>
            <a:ext cx="1481328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2"/>
          <p:cNvSpPr/>
          <p:nvPr/>
        </p:nvSpPr>
        <p:spPr>
          <a:xfrm>
            <a:off x="5449824" y="3584448"/>
            <a:ext cx="1481328" cy="4572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12"/>
          <p:cNvSpPr/>
          <p:nvPr/>
        </p:nvSpPr>
        <p:spPr>
          <a:xfrm>
            <a:off x="5449824" y="3648456"/>
            <a:ext cx="148132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Data Sources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5522976" y="3913632"/>
            <a:ext cx="13350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Google Trends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World Bank + GDELT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Reddit + CSV fallbacks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7077456" y="3584448"/>
            <a:ext cx="1481328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2"/>
          <p:cNvSpPr/>
          <p:nvPr/>
        </p:nvSpPr>
        <p:spPr>
          <a:xfrm>
            <a:off x="7077456" y="3584448"/>
            <a:ext cx="1481328" cy="45720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2"/>
          <p:cNvSpPr/>
          <p:nvPr/>
        </p:nvSpPr>
        <p:spPr>
          <a:xfrm>
            <a:off x="7077456" y="3648456"/>
            <a:ext cx="148132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7150608" y="3913632"/>
            <a:ext cx="133502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Railway.app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Auto-deploy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from GitHub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28B8"/>
        </a:solidFill>
      </p:bgPr>
    </p:bg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3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1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3520A0"/>
          </a:solidFill>
          <a:ln cap="flat" cmpd="sng" w="12700">
            <a:solidFill>
              <a:srgbClr val="3520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3"/>
          <p:cNvSpPr/>
          <p:nvPr/>
        </p:nvSpPr>
        <p:spPr>
          <a:xfrm>
            <a:off x="457200" y="4983480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C8"/>
              </a:buClr>
              <a:buSzPts val="750"/>
              <a:buFont typeface="Calibri"/>
              <a:buNone/>
            </a:pPr>
            <a:r>
              <a:rPr lang="en-US" sz="750">
                <a:solidFill>
                  <a:srgbClr val="9090C8"/>
                </a:solidFill>
                <a:latin typeface="Calibri"/>
                <a:ea typeface="Calibri"/>
                <a:cs typeface="Calibri"/>
                <a:sym typeface="Calibri"/>
              </a:rPr>
              <a:t>opportunity-scout-ai.up.railway.app  |  Moringa School Capstone 2026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3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3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00"/>
              <a:buFont typeface="Calibri"/>
              <a:buNone/>
            </a:pPr>
            <a:r>
              <a:rPr b="1" lang="en-US" sz="8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3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orgia"/>
              <a:buNone/>
            </a:pPr>
            <a:r>
              <a:rPr b="1" lang="en-US" sz="3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We did more than build a model.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3"/>
          <p:cNvSpPr/>
          <p:nvPr/>
        </p:nvSpPr>
        <p:spPr>
          <a:xfrm>
            <a:off x="457200" y="1170432"/>
            <a:ext cx="8229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We built a decision-support system that makes AI explainable, startup evaluation objective, and emerging markets visible.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3"/>
          <p:cNvSpPr/>
          <p:nvPr/>
        </p:nvSpPr>
        <p:spPr>
          <a:xfrm>
            <a:off x="457200" y="1828800"/>
            <a:ext cx="4160520" cy="1143000"/>
          </a:xfrm>
          <a:prstGeom prst="rect">
            <a:avLst/>
          </a:prstGeom>
          <a:solidFill>
            <a:srgbClr val="3520A0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3"/>
          <p:cNvSpPr/>
          <p:nvPr/>
        </p:nvSpPr>
        <p:spPr>
          <a:xfrm>
            <a:off x="457200" y="1828800"/>
            <a:ext cx="347472" cy="1143000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13"/>
          <p:cNvSpPr/>
          <p:nvPr/>
        </p:nvSpPr>
        <p:spPr>
          <a:xfrm>
            <a:off x="457200" y="1828800"/>
            <a:ext cx="347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BEB"/>
              </a:buClr>
              <a:buSzPts val="1600"/>
              <a:buFont typeface="Georgia"/>
              <a:buNone/>
            </a:pPr>
            <a:r>
              <a:t/>
            </a:r>
            <a:endParaRPr b="1" sz="1600">
              <a:solidFill>
                <a:srgbClr val="FFFBEB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511" name="Google Shape;511;p13"/>
          <p:cNvSpPr/>
          <p:nvPr/>
        </p:nvSpPr>
        <p:spPr>
          <a:xfrm>
            <a:off x="896112" y="1975104"/>
            <a:ext cx="35844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Georgia"/>
              <a:buNone/>
            </a:pPr>
            <a:r>
              <a:rPr b="1" lang="en-US" sz="115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Production ML Pipeline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3"/>
          <p:cNvSpPr/>
          <p:nvPr/>
        </p:nvSpPr>
        <p:spPr>
          <a:xfrm>
            <a:off x="896112" y="2286000"/>
            <a:ext cx="35844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End-to-end: raw data -&gt; feature engineering -&gt; LightGBM -&gt; SHAP -&gt; live web app deployed on Railway.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3"/>
          <p:cNvSpPr/>
          <p:nvPr/>
        </p:nvSpPr>
        <p:spPr>
          <a:xfrm>
            <a:off x="4846320" y="1828800"/>
            <a:ext cx="4160520" cy="1143000"/>
          </a:xfrm>
          <a:prstGeom prst="rect">
            <a:avLst/>
          </a:prstGeom>
          <a:solidFill>
            <a:srgbClr val="3520A0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3"/>
          <p:cNvSpPr/>
          <p:nvPr/>
        </p:nvSpPr>
        <p:spPr>
          <a:xfrm>
            <a:off x="4846320" y="1828800"/>
            <a:ext cx="347472" cy="1143000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13"/>
          <p:cNvSpPr/>
          <p:nvPr/>
        </p:nvSpPr>
        <p:spPr>
          <a:xfrm>
            <a:off x="4846320" y="1828800"/>
            <a:ext cx="347472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BEB"/>
              </a:buClr>
              <a:buSzPts val="1600"/>
              <a:buFont typeface="Georgia"/>
              <a:buNone/>
            </a:pPr>
            <a:r>
              <a:t/>
            </a:r>
            <a:endParaRPr b="1" sz="1600">
              <a:solidFill>
                <a:srgbClr val="FFFBEB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516" name="Google Shape;516;p13"/>
          <p:cNvSpPr/>
          <p:nvPr/>
        </p:nvSpPr>
        <p:spPr>
          <a:xfrm>
            <a:off x="5285232" y="1975104"/>
            <a:ext cx="35844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Georgia"/>
              <a:buNone/>
            </a:pPr>
            <a:r>
              <a:rPr b="1" lang="en-US" sz="115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Explainability at Scale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3"/>
          <p:cNvSpPr/>
          <p:nvPr/>
        </p:nvSpPr>
        <p:spPr>
          <a:xfrm>
            <a:off x="5285232" y="2286000"/>
            <a:ext cx="35844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Every score is justified. Entrepreneurs know what to fix. Investors know what to trust.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3"/>
          <p:cNvSpPr/>
          <p:nvPr/>
        </p:nvSpPr>
        <p:spPr>
          <a:xfrm>
            <a:off x="457200" y="3182112"/>
            <a:ext cx="4160520" cy="1143000"/>
          </a:xfrm>
          <a:prstGeom prst="rect">
            <a:avLst/>
          </a:prstGeom>
          <a:solidFill>
            <a:srgbClr val="3520A0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3"/>
          <p:cNvSpPr/>
          <p:nvPr/>
        </p:nvSpPr>
        <p:spPr>
          <a:xfrm>
            <a:off x="457200" y="3182112"/>
            <a:ext cx="347472" cy="1143000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3"/>
          <p:cNvSpPr/>
          <p:nvPr/>
        </p:nvSpPr>
        <p:spPr>
          <a:xfrm>
            <a:off x="457200" y="3182112"/>
            <a:ext cx="347472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BEB"/>
              </a:buClr>
              <a:buSzPts val="1600"/>
              <a:buFont typeface="Georgia"/>
              <a:buNone/>
            </a:pPr>
            <a:r>
              <a:t/>
            </a:r>
            <a:endParaRPr b="1" sz="1600">
              <a:solidFill>
                <a:srgbClr val="FFFBEB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521" name="Google Shape;521;p13"/>
          <p:cNvSpPr/>
          <p:nvPr/>
        </p:nvSpPr>
        <p:spPr>
          <a:xfrm>
            <a:off x="896112" y="3328416"/>
            <a:ext cx="35844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Georgia"/>
              <a:buNone/>
            </a:pPr>
            <a:r>
              <a:rPr b="1" lang="en-US" sz="115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Emerging Market Context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3"/>
          <p:cNvSpPr/>
          <p:nvPr/>
        </p:nvSpPr>
        <p:spPr>
          <a:xfrm>
            <a:off x="896112" y="3639312"/>
            <a:ext cx="35844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GDP context engine makes scores interpretable — a 61 in Kenya 2019 now has economic meaning.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3"/>
          <p:cNvSpPr/>
          <p:nvPr/>
        </p:nvSpPr>
        <p:spPr>
          <a:xfrm>
            <a:off x="4846320" y="3182112"/>
            <a:ext cx="4160520" cy="1143000"/>
          </a:xfrm>
          <a:prstGeom prst="rect">
            <a:avLst/>
          </a:prstGeom>
          <a:solidFill>
            <a:srgbClr val="3520A0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13"/>
          <p:cNvSpPr/>
          <p:nvPr/>
        </p:nvSpPr>
        <p:spPr>
          <a:xfrm>
            <a:off x="4846320" y="3182112"/>
            <a:ext cx="347472" cy="1143000"/>
          </a:xfrm>
          <a:prstGeom prst="rect">
            <a:avLst/>
          </a:prstGeom>
          <a:solidFill>
            <a:srgbClr val="3A2A9E"/>
          </a:solidFill>
          <a:ln cap="flat" cmpd="sng" w="12700">
            <a:solidFill>
              <a:srgbClr val="554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3"/>
          <p:cNvSpPr/>
          <p:nvPr/>
        </p:nvSpPr>
        <p:spPr>
          <a:xfrm>
            <a:off x="4846320" y="3182112"/>
            <a:ext cx="347472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BEB"/>
              </a:buClr>
              <a:buSzPts val="1600"/>
              <a:buFont typeface="Georgia"/>
              <a:buNone/>
            </a:pPr>
            <a:r>
              <a:t/>
            </a:r>
            <a:endParaRPr b="1" sz="1600">
              <a:solidFill>
                <a:srgbClr val="FFFBEB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526" name="Google Shape;526;p13"/>
          <p:cNvSpPr/>
          <p:nvPr/>
        </p:nvSpPr>
        <p:spPr>
          <a:xfrm>
            <a:off x="5285232" y="3328416"/>
            <a:ext cx="35844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Georgia"/>
              <a:buNone/>
            </a:pPr>
            <a:r>
              <a:rPr b="1" lang="en-US" sz="115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Dual Personas, One Platform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3"/>
          <p:cNvSpPr/>
          <p:nvPr/>
        </p:nvSpPr>
        <p:spPr>
          <a:xfrm>
            <a:off x="5285232" y="3639312"/>
            <a:ext cx="35844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Founders and investors get a view tailored to their goals from a single unified scoring engine.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0F8"/>
        </a:solidFill>
      </p:bgPr>
    </p:bg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4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14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Recommendations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4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How this tool should be used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4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4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4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4"/>
          <p:cNvSpPr/>
          <p:nvPr/>
        </p:nvSpPr>
        <p:spPr>
          <a:xfrm>
            <a:off x="457200" y="1005840"/>
            <a:ext cx="4160520" cy="3794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14"/>
          <p:cNvSpPr/>
          <p:nvPr/>
        </p:nvSpPr>
        <p:spPr>
          <a:xfrm>
            <a:off x="457200" y="1005840"/>
            <a:ext cx="4160520" cy="5486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4"/>
          <p:cNvSpPr/>
          <p:nvPr/>
        </p:nvSpPr>
        <p:spPr>
          <a:xfrm>
            <a:off x="594360" y="1170432"/>
            <a:ext cx="3886200" cy="29260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4"/>
          <p:cNvSpPr/>
          <p:nvPr/>
        </p:nvSpPr>
        <p:spPr>
          <a:xfrm>
            <a:off x="594360" y="1170432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FOR ENTREPRENEURS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44" name="Google Shape;544;p14"/>
          <p:cNvCxnSpPr/>
          <p:nvPr/>
        </p:nvCxnSpPr>
        <p:spPr>
          <a:xfrm>
            <a:off x="658368" y="1719072"/>
            <a:ext cx="201168" cy="201168"/>
          </a:xfrm>
          <a:prstGeom prst="straightConnector1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5" name="Google Shape;545;p14"/>
          <p:cNvSpPr/>
          <p:nvPr/>
        </p:nvSpPr>
        <p:spPr>
          <a:xfrm>
            <a:off x="960120" y="1664208"/>
            <a:ext cx="3520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Use the Entrepreneur profile to benchmark against 25,000+ ventures before your next investor meeting.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46" name="Google Shape;546;p14"/>
          <p:cNvCxnSpPr/>
          <p:nvPr/>
        </p:nvCxnSpPr>
        <p:spPr>
          <a:xfrm>
            <a:off x="658368" y="2724912"/>
            <a:ext cx="201168" cy="201168"/>
          </a:xfrm>
          <a:prstGeom prst="straightConnector1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7" name="Google Shape;547;p14"/>
          <p:cNvSpPr/>
          <p:nvPr/>
        </p:nvSpPr>
        <p:spPr>
          <a:xfrm>
            <a:off x="960120" y="2670048"/>
            <a:ext cx="3520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Run the What-If Simulator to find which signals — funding, trends — to strengthen first.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48" name="Google Shape;548;p14"/>
          <p:cNvCxnSpPr/>
          <p:nvPr/>
        </p:nvCxnSpPr>
        <p:spPr>
          <a:xfrm>
            <a:off x="658368" y="3730752"/>
            <a:ext cx="201168" cy="201168"/>
          </a:xfrm>
          <a:prstGeom prst="straightConnector1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9" name="Google Shape;549;p14"/>
          <p:cNvSpPr/>
          <p:nvPr/>
        </p:nvSpPr>
        <p:spPr>
          <a:xfrm>
            <a:off x="960120" y="3675888"/>
            <a:ext cx="3520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Use SHAP explanations as your pitch checklist: address your score's drag factors directly.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4"/>
          <p:cNvSpPr/>
          <p:nvPr/>
        </p:nvSpPr>
        <p:spPr>
          <a:xfrm>
            <a:off x="4800600" y="1005840"/>
            <a:ext cx="4160520" cy="3794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4"/>
          <p:cNvSpPr/>
          <p:nvPr/>
        </p:nvSpPr>
        <p:spPr>
          <a:xfrm>
            <a:off x="4800600" y="1005840"/>
            <a:ext cx="4160520" cy="54864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4"/>
          <p:cNvSpPr/>
          <p:nvPr/>
        </p:nvSpPr>
        <p:spPr>
          <a:xfrm>
            <a:off x="4937760" y="1170432"/>
            <a:ext cx="3886200" cy="29260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14"/>
          <p:cNvSpPr/>
          <p:nvPr/>
        </p:nvSpPr>
        <p:spPr>
          <a:xfrm>
            <a:off x="4937760" y="1170432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FOR INVESTORS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4" name="Google Shape;554;p14"/>
          <p:cNvCxnSpPr/>
          <p:nvPr/>
        </p:nvCxnSpPr>
        <p:spPr>
          <a:xfrm>
            <a:off x="5001768" y="1719072"/>
            <a:ext cx="201168" cy="201168"/>
          </a:xfrm>
          <a:prstGeom prst="straightConnector1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5" name="Google Shape;555;p14"/>
          <p:cNvSpPr/>
          <p:nvPr/>
        </p:nvSpPr>
        <p:spPr>
          <a:xfrm>
            <a:off x="5303520" y="1664208"/>
            <a:ext cx="3520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Use the Investor profile for consistent, bias-free due diligence screening across deal flow.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6" name="Google Shape;556;p14"/>
          <p:cNvCxnSpPr/>
          <p:nvPr/>
        </p:nvCxnSpPr>
        <p:spPr>
          <a:xfrm>
            <a:off x="5001768" y="2724912"/>
            <a:ext cx="201168" cy="201168"/>
          </a:xfrm>
          <a:prstGeom prst="straightConnector1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7" name="Google Shape;557;p14"/>
          <p:cNvSpPr/>
          <p:nvPr/>
        </p:nvSpPr>
        <p:spPr>
          <a:xfrm>
            <a:off x="5303520" y="2670048"/>
            <a:ext cx="3520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Use the Compare feature for side-by-side evaluation of competing portfolio opportunities.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8" name="Google Shape;558;p14"/>
          <p:cNvCxnSpPr/>
          <p:nvPr/>
        </p:nvCxnSpPr>
        <p:spPr>
          <a:xfrm>
            <a:off x="5001768" y="3730752"/>
            <a:ext cx="201168" cy="201168"/>
          </a:xfrm>
          <a:prstGeom prst="straightConnector1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9" name="Google Shape;559;p14"/>
          <p:cNvSpPr/>
          <p:nvPr/>
        </p:nvSpPr>
        <p:spPr>
          <a:xfrm>
            <a:off x="5303520" y="3675888"/>
            <a:ext cx="3520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Pair the score with qualitative data for a balanced, explainable investment thesis.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4"/>
          <p:cNvSpPr/>
          <p:nvPr/>
        </p:nvSpPr>
        <p:spPr>
          <a:xfrm>
            <a:off x="457200" y="4709160"/>
            <a:ext cx="8229600" cy="182880"/>
          </a:xfrm>
          <a:prstGeom prst="rect">
            <a:avLst/>
          </a:prstGeom>
          <a:solidFill>
            <a:srgbClr val="FFFBEB"/>
          </a:solidFill>
          <a:ln cap="flat" cmpd="sng" w="12700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14"/>
          <p:cNvSpPr/>
          <p:nvPr/>
        </p:nvSpPr>
        <p:spPr>
          <a:xfrm>
            <a:off x="548640" y="4709160"/>
            <a:ext cx="8046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Ecosystem Builder integration (accelerators, VC API) is a planned future phase — see next slide.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5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5"/>
          <p:cNvSpPr/>
          <p:nvPr/>
        </p:nvSpPr>
        <p:spPr>
          <a:xfrm>
            <a:off x="50292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600"/>
              <a:buFont typeface="Georgia"/>
              <a:buNone/>
            </a:pPr>
            <a:r>
              <a:rPr b="1" lang="en-US" sz="26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Future Work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5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The roadmap for Opportunity Scout AI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5"/>
          <p:cNvSpPr/>
          <p:nvPr/>
        </p:nvSpPr>
        <p:spPr>
          <a:xfrm>
            <a:off x="502920" y="877824"/>
            <a:ext cx="8138160" cy="18288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15"/>
          <p:cNvSpPr/>
          <p:nvPr/>
        </p:nvSpPr>
        <p:spPr>
          <a:xfrm>
            <a:off x="457200" y="4937760"/>
            <a:ext cx="7863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Opportunity Scout AI  |  Moringa School Capstone 2026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5"/>
          <p:cNvSpPr/>
          <p:nvPr/>
        </p:nvSpPr>
        <p:spPr>
          <a:xfrm>
            <a:off x="8412480" y="493776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90A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9090A8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5"/>
          <p:cNvSpPr/>
          <p:nvPr/>
        </p:nvSpPr>
        <p:spPr>
          <a:xfrm>
            <a:off x="2176272" y="1005840"/>
            <a:ext cx="45720" cy="3794760"/>
          </a:xfrm>
          <a:prstGeom prst="rect">
            <a:avLst/>
          </a:prstGeom>
          <a:solidFill>
            <a:srgbClr val="E4E2F0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15"/>
          <p:cNvSpPr/>
          <p:nvPr/>
        </p:nvSpPr>
        <p:spPr>
          <a:xfrm>
            <a:off x="347472" y="1078992"/>
            <a:ext cx="1691640" cy="310896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15"/>
          <p:cNvSpPr/>
          <p:nvPr/>
        </p:nvSpPr>
        <p:spPr>
          <a:xfrm>
            <a:off x="347472" y="1078992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5"/>
          <p:cNvSpPr/>
          <p:nvPr/>
        </p:nvSpPr>
        <p:spPr>
          <a:xfrm>
            <a:off x="2487168" y="1005840"/>
            <a:ext cx="6291072" cy="86868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15"/>
          <p:cNvSpPr/>
          <p:nvPr/>
        </p:nvSpPr>
        <p:spPr>
          <a:xfrm>
            <a:off x="2633472" y="107899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lang="en-US" sz="12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Expanded Data Coverage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5"/>
          <p:cNvSpPr/>
          <p:nvPr/>
        </p:nvSpPr>
        <p:spPr>
          <a:xfrm>
            <a:off x="2633472" y="1371600"/>
            <a:ext cx="5943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Extend training beyond 2020 to capture post-pandemic dynamics. Add more African, SEA, and LATAM markets.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5"/>
          <p:cNvSpPr/>
          <p:nvPr/>
        </p:nvSpPr>
        <p:spPr>
          <a:xfrm>
            <a:off x="347472" y="2048256"/>
            <a:ext cx="1691640" cy="310896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15"/>
          <p:cNvSpPr/>
          <p:nvPr/>
        </p:nvSpPr>
        <p:spPr>
          <a:xfrm>
            <a:off x="347472" y="2048256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5"/>
          <p:cNvSpPr/>
          <p:nvPr/>
        </p:nvSpPr>
        <p:spPr>
          <a:xfrm>
            <a:off x="2487168" y="1975104"/>
            <a:ext cx="6291072" cy="86868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5"/>
          <p:cNvSpPr/>
          <p:nvPr/>
        </p:nvSpPr>
        <p:spPr>
          <a:xfrm>
            <a:off x="2633472" y="2048256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lang="en-US" sz="12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Real-Time Signal Integration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5"/>
          <p:cNvSpPr/>
          <p:nvPr/>
        </p:nvSpPr>
        <p:spPr>
          <a:xfrm>
            <a:off x="2633472" y="2340864"/>
            <a:ext cx="5943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Replace CSV fallbacks with fully live feeds — continuous Google Trends, World Bank, Reddit, and GDELT ingestion.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5"/>
          <p:cNvSpPr/>
          <p:nvPr/>
        </p:nvSpPr>
        <p:spPr>
          <a:xfrm>
            <a:off x="347472" y="3017520"/>
            <a:ext cx="1691640" cy="310896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5"/>
          <p:cNvSpPr/>
          <p:nvPr/>
        </p:nvSpPr>
        <p:spPr>
          <a:xfrm>
            <a:off x="347472" y="3017520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5"/>
          <p:cNvSpPr/>
          <p:nvPr/>
        </p:nvSpPr>
        <p:spPr>
          <a:xfrm>
            <a:off x="2487168" y="2944368"/>
            <a:ext cx="6291072" cy="86868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15"/>
          <p:cNvSpPr/>
          <p:nvPr/>
        </p:nvSpPr>
        <p:spPr>
          <a:xfrm>
            <a:off x="2633472" y="3017520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lang="en-US" sz="12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Sector-Specific Sub-Models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5"/>
          <p:cNvSpPr/>
          <p:nvPr/>
        </p:nvSpPr>
        <p:spPr>
          <a:xfrm>
            <a:off x="2633472" y="3310128"/>
            <a:ext cx="5943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Train specialised models for Fintech, AgriTech, HealthTech, and EdTech with domain-tuned feature weights.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5"/>
          <p:cNvSpPr/>
          <p:nvPr/>
        </p:nvSpPr>
        <p:spPr>
          <a:xfrm>
            <a:off x="347472" y="3986784"/>
            <a:ext cx="1691640" cy="310896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15"/>
          <p:cNvSpPr/>
          <p:nvPr/>
        </p:nvSpPr>
        <p:spPr>
          <a:xfrm>
            <a:off x="347472" y="3986784"/>
            <a:ext cx="1691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5"/>
          <p:cNvSpPr/>
          <p:nvPr/>
        </p:nvSpPr>
        <p:spPr>
          <a:xfrm>
            <a:off x="2487168" y="3913632"/>
            <a:ext cx="6291072" cy="868680"/>
          </a:xfrm>
          <a:prstGeom prst="rect">
            <a:avLst/>
          </a:prstGeom>
          <a:solidFill>
            <a:srgbClr val="F0F0F8"/>
          </a:solidFill>
          <a:ln cap="flat" cmpd="sng" w="12700">
            <a:solidFill>
              <a:srgbClr val="E4E2F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503CB4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15"/>
          <p:cNvSpPr/>
          <p:nvPr/>
        </p:nvSpPr>
        <p:spPr>
          <a:xfrm>
            <a:off x="2633472" y="3986784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Georgia"/>
              <a:buNone/>
            </a:pPr>
            <a:r>
              <a:rPr b="1" lang="en-US" sz="1200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Public API, SDK &amp; Ecosystem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5"/>
          <p:cNvSpPr/>
          <p:nvPr/>
        </p:nvSpPr>
        <p:spPr>
          <a:xfrm>
            <a:off x="2633472" y="4279392"/>
            <a:ext cx="5943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7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555570"/>
                </a:solidFill>
                <a:latin typeface="Calibri"/>
                <a:ea typeface="Calibri"/>
                <a:cs typeface="Calibri"/>
                <a:sym typeface="Calibri"/>
              </a:rPr>
              <a:t>Launch a documented REST API for accelerators, VC platforms, and ecosystem builders to embed Opportunity Scout AI scoring into their own workflows.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5"/>
          <p:cNvSpPr/>
          <p:nvPr/>
        </p:nvSpPr>
        <p:spPr>
          <a:xfrm>
            <a:off x="2039103" y="1115550"/>
            <a:ext cx="256200" cy="219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15"/>
          <p:cNvSpPr/>
          <p:nvPr/>
        </p:nvSpPr>
        <p:spPr>
          <a:xfrm>
            <a:off x="2039100" y="2089400"/>
            <a:ext cx="256200" cy="228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15"/>
          <p:cNvSpPr/>
          <p:nvPr/>
        </p:nvSpPr>
        <p:spPr>
          <a:xfrm>
            <a:off x="2039102" y="3063150"/>
            <a:ext cx="256200" cy="219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15"/>
          <p:cNvSpPr/>
          <p:nvPr/>
        </p:nvSpPr>
        <p:spPr>
          <a:xfrm>
            <a:off x="2039088" y="4023298"/>
            <a:ext cx="219600" cy="219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28B8"/>
        </a:solidFill>
      </p:bgPr>
    </p:bg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6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16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2A1E8A"/>
          </a:solidFill>
          <a:ln cap="flat" cmpd="sng" w="12700">
            <a:solidFill>
              <a:srgbClr val="2A1E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16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9090C8"/>
                </a:solidFill>
                <a:latin typeface="Calibri"/>
                <a:ea typeface="Calibri"/>
                <a:cs typeface="Calibri"/>
                <a:sym typeface="Calibri"/>
              </a:rPr>
              <a:t>opportunity-scout-ai.up.railway.app  |  github.com/lilibethlangat/Opportunity_Scout_AI  |  Capstone 2026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6"/>
          <p:cNvSpPr/>
          <p:nvPr/>
        </p:nvSpPr>
        <p:spPr>
          <a:xfrm>
            <a:off x="3749040" y="292608"/>
            <a:ext cx="1645920" cy="256032"/>
          </a:xfrm>
          <a:prstGeom prst="rect">
            <a:avLst/>
          </a:prstGeom>
          <a:solidFill>
            <a:srgbClr val="EDE9FB"/>
          </a:solidFill>
          <a:ln cap="flat" cmpd="sng" w="12700">
            <a:solidFill>
              <a:srgbClr val="D4C9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16"/>
          <p:cNvSpPr/>
          <p:nvPr/>
        </p:nvSpPr>
        <p:spPr>
          <a:xfrm>
            <a:off x="3749040" y="292608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3FD4"/>
              </a:buClr>
              <a:buSzPts val="800"/>
              <a:buFont typeface="Calibri"/>
              <a:buNone/>
            </a:pPr>
            <a:r>
              <a:rPr b="1" lang="en-US" sz="800">
                <a:solidFill>
                  <a:srgbClr val="5B3FD4"/>
                </a:solidFill>
                <a:latin typeface="Calibri"/>
                <a:ea typeface="Calibri"/>
                <a:cs typeface="Calibri"/>
                <a:sym typeface="Calibri"/>
              </a:rPr>
              <a:t>AI SCORING ENGINE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6"/>
          <p:cNvSpPr/>
          <p:nvPr/>
        </p:nvSpPr>
        <p:spPr>
          <a:xfrm>
            <a:off x="457200" y="713232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Georgia"/>
              <a:buNone/>
            </a:pPr>
            <a:r>
              <a:rPr b="1" lang="en-US" sz="46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Opportunity Scout AI</a:t>
            </a:r>
            <a:endParaRPr sz="4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6"/>
          <p:cNvSpPr/>
          <p:nvPr/>
        </p:nvSpPr>
        <p:spPr>
          <a:xfrm>
            <a:off x="457200" y="1508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BEB"/>
              </a:buClr>
              <a:buSzPts val="3000"/>
              <a:buFont typeface="Georgia"/>
              <a:buNone/>
            </a:pPr>
            <a:r>
              <a:rPr i="1" lang="en-US" sz="3000">
                <a:solidFill>
                  <a:srgbClr val="FFFBEB"/>
                </a:solidFill>
                <a:latin typeface="Georgia"/>
                <a:ea typeface="Georgia"/>
                <a:cs typeface="Georgia"/>
                <a:sym typeface="Georgia"/>
              </a:rPr>
              <a:t>Thank You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/>
          <p:nvPr/>
        </p:nvSpPr>
        <p:spPr>
          <a:xfrm>
            <a:off x="3474720" y="2212848"/>
            <a:ext cx="2194560" cy="36576"/>
          </a:xfrm>
          <a:prstGeom prst="rect">
            <a:avLst/>
          </a:prstGeom>
          <a:solidFill>
            <a:srgbClr val="7C5FE6"/>
          </a:solidFill>
          <a:ln cap="flat" cmpd="sng" w="12700">
            <a:solidFill>
              <a:srgbClr val="7C5F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16"/>
          <p:cNvSpPr/>
          <p:nvPr/>
        </p:nvSpPr>
        <p:spPr>
          <a:xfrm>
            <a:off x="457200" y="235915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4B8F8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C4B8F8"/>
                </a:solidFill>
                <a:latin typeface="Calibri"/>
                <a:ea typeface="Calibri"/>
                <a:cs typeface="Calibri"/>
                <a:sym typeface="Calibri"/>
              </a:rPr>
              <a:t>Built with ML rigour, designed for clarity.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C8"/>
              </a:buClr>
              <a:buSzPts val="850"/>
              <a:buFont typeface="Calibri"/>
              <a:buNone/>
            </a:pPr>
            <a:r>
              <a:rPr b="1" lang="en-US" sz="850">
                <a:solidFill>
                  <a:srgbClr val="9090C8"/>
                </a:solidFill>
                <a:latin typeface="Calibri"/>
                <a:ea typeface="Calibri"/>
                <a:cs typeface="Calibri"/>
                <a:sym typeface="Calibri"/>
              </a:rPr>
              <a:t>THE TEAM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/>
          <p:nvPr/>
        </p:nvSpPr>
        <p:spPr>
          <a:xfrm>
            <a:off x="457200" y="3127248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Georgia"/>
              <a:buNone/>
            </a:pPr>
            <a:r>
              <a:rPr lang="en-US" sz="18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Lydiah</a:t>
            </a:r>
            <a:r>
              <a:rPr lang="en-US" sz="18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 |  Kefa  |  Vicky  |  Lilibeth  |  Jeniffer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90C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9090C8"/>
                </a:solidFill>
                <a:latin typeface="Calibri"/>
                <a:ea typeface="Calibri"/>
                <a:cs typeface="Calibri"/>
                <a:sym typeface="Calibri"/>
              </a:rPr>
              <a:t>Moringa School - Data Science Capstone 2026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/>
          <p:nvPr/>
        </p:nvSpPr>
        <p:spPr>
          <a:xfrm>
            <a:off x="2834640" y="4041648"/>
            <a:ext cx="3474720" cy="420624"/>
          </a:xfrm>
          <a:prstGeom prst="rect">
            <a:avLst/>
          </a:prstGeom>
          <a:solidFill>
            <a:srgbClr val="5B3FD4"/>
          </a:solidFill>
          <a:ln cap="flat" cmpd="sng" w="12700">
            <a:solidFill>
              <a:srgbClr val="5B3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16"/>
          <p:cNvSpPr/>
          <p:nvPr/>
        </p:nvSpPr>
        <p:spPr>
          <a:xfrm>
            <a:off x="2834640" y="4041648"/>
            <a:ext cx="34747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Visit: </a:t>
            </a:r>
            <a:r>
              <a:rPr b="1" lang="en-US" sz="1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opportunity-scout-ai.up.railway.app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
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76" r:id="rId7"/>
    <p:sldId id="277" r:id="rId8"/>
    <p:sldId id="261" r:id="rId9"/>
    <p:sldId id="262" r:id="rId10"/>
    <p:sldId id="263" r:id="rId11"/>
    <p:sldId id="264" r:id="rId12"/>
    <p:sldId id="275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0704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5B8DE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3200400"/>
            <a:ext cx="3657600" cy="3657600"/>
          </a:xfrm>
          <a:prstGeom prst="ellipse">
            <a:avLst/>
          </a:prstGeom>
          <a:solidFill>
            <a:srgbClr val="1E9EB5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92099"/>
            <a:ext cx="457200" cy="457200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+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188720" y="1353312"/>
            <a:ext cx="2651760" cy="210312"/>
          </a:xfrm>
          <a:prstGeom prst="rect">
            <a:avLst/>
          </a:prstGeom>
          <a:solidFill>
            <a:srgbClr val="5B8DEE">
              <a:alpha val="3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1353312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A8C4F0"/>
                </a:solidFill>
              </a:rPr>
              <a:t>AI-POWERED STARTUP INTELLIGENCE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Scout AI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93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Business Ideas Into Data-Driven Decisions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2286000" cy="36576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520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B4E8"/>
                </a:solidFill>
              </a:rPr>
              <a:t>LightGBM + SHAP · 4 Live APIs · 86 Engineered Features · Entrepreneur &amp; Investor Modes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1920240" cy="73152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187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0+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55371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B4E8"/>
                </a:solidFill>
              </a:rPr>
              <a:t>Data Signals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97480" y="4160520"/>
            <a:ext cx="1920240" cy="73152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6" name="Text 14"/>
          <p:cNvSpPr/>
          <p:nvPr/>
        </p:nvSpPr>
        <p:spPr>
          <a:xfrm>
            <a:off x="2697480" y="4187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97480" y="455371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B4E8"/>
                </a:solidFill>
              </a:rPr>
              <a:t>Viability Score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46320" y="4160520"/>
            <a:ext cx="1920240" cy="73152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4187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46320" y="455371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B4E8"/>
                </a:solidFill>
              </a:rPr>
              <a:t>Explained 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995160" y="4160520"/>
            <a:ext cx="1920240" cy="73152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4187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&lt;200ms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95160" y="455371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B4E8"/>
                </a:solidFill>
              </a:rPr>
              <a:t>Response Time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1480" y="4952867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BA0"/>
                </a:solidFill>
              </a:rPr>
              <a:t>Capstone Group Project  ·  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C0392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2004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74980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Why evaluating startup ideas is broken today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743200" cy="1554480"/>
          </a:xfrm>
          <a:prstGeom prst="rect">
            <a:avLst/>
          </a:prstGeom>
          <a:solidFill>
            <a:srgbClr val="243564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618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89204" y="1375199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 Feeling Rules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" y="1728216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B4E8"/>
                </a:solidFill>
              </a:rPr>
              <a:t>Most startup evaluation relies on subjective intuition and personal networks rather than objective data leading to missed opportunities and wasted resources.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01568" y="1197864"/>
            <a:ext cx="2743200" cy="1554480"/>
          </a:xfrm>
          <a:prstGeom prst="rect">
            <a:avLst/>
          </a:prstGeom>
          <a:solidFill>
            <a:srgbClr val="243564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12" name="Shape 10"/>
          <p:cNvSpPr/>
          <p:nvPr/>
        </p:nvSpPr>
        <p:spPr>
          <a:xfrm>
            <a:off x="3401568" y="1188720"/>
            <a:ext cx="274320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3401568" y="12618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470148" y="1380939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Data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0148" y="1649519"/>
            <a:ext cx="2537460" cy="9222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B4E8"/>
                </a:solidFill>
              </a:rPr>
              <a:t>Market trends, economic health, social signals, and funding data exist in separate silos. Nobody combines them into a single score.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45936" y="1248156"/>
            <a:ext cx="2651760" cy="1563624"/>
          </a:xfrm>
          <a:prstGeom prst="rect">
            <a:avLst/>
          </a:prstGeom>
          <a:solidFill>
            <a:srgbClr val="243564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17" name="Shape 15"/>
          <p:cNvSpPr/>
          <p:nvPr/>
        </p:nvSpPr>
        <p:spPr>
          <a:xfrm>
            <a:off x="6345936" y="1188720"/>
            <a:ext cx="274320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345936" y="12618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1092" y="1375200"/>
            <a:ext cx="25008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Standard Score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14516" y="1649519"/>
            <a:ext cx="2537460" cy="7965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B4E8"/>
                </a:solidFill>
              </a:rPr>
              <a:t>There is no universally accepted system to compare opportunities across industries, regions, or time periods.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967228"/>
            <a:ext cx="8540496" cy="822960"/>
          </a:xfrm>
          <a:prstGeom prst="rect">
            <a:avLst/>
          </a:prstGeom>
          <a:solidFill>
            <a:srgbClr val="1E3A6E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3054096"/>
            <a:ext cx="1298448" cy="4089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C4F0"/>
                </a:solidFill>
              </a:rPr>
              <a:t>The Result: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95336" y="3020779"/>
            <a:ext cx="6771424" cy="5865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B4E8"/>
                </a:solidFill>
              </a:rPr>
              <a:t>Entrepreneurs waste months on non-viable ideas. Investors miss great deals buried in noise. Innovation teams can't systematically compare projects.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90" y="4005072"/>
            <a:ext cx="2743200" cy="822960"/>
          </a:xfrm>
          <a:prstGeom prst="rect">
            <a:avLst/>
          </a:prstGeom>
          <a:solidFill>
            <a:srgbClr val="2A4575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046220"/>
            <a:ext cx="1005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1463040" y="4105722"/>
            <a:ext cx="1645920" cy="5805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of startups fail</a:t>
            </a:r>
            <a:r>
              <a:rPr lang="en-US" sz="950" dirty="0"/>
              <a:t> </a:t>
            </a:r>
            <a:r>
              <a:rPr lang="en-US" sz="950" dirty="0">
                <a:solidFill>
                  <a:srgbClr val="93B4E8"/>
                </a:solidFill>
              </a:rPr>
              <a:t>partly from poor</a:t>
            </a:r>
            <a:r>
              <a:rPr lang="en-US" sz="950" dirty="0"/>
              <a:t> </a:t>
            </a:r>
            <a:r>
              <a:rPr lang="en-US" sz="950" dirty="0">
                <a:solidFill>
                  <a:srgbClr val="93B4E8"/>
                </a:solidFill>
              </a:rPr>
              <a:t>market validation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64994" y="4014216"/>
            <a:ext cx="2743200" cy="822960"/>
          </a:xfrm>
          <a:prstGeom prst="rect">
            <a:avLst/>
          </a:prstGeom>
          <a:solidFill>
            <a:srgbClr val="2A4575"/>
          </a:solidFill>
          <a:ln/>
        </p:spPr>
      </p:sp>
      <p:sp>
        <p:nvSpPr>
          <p:cNvPr id="28" name="Text 26"/>
          <p:cNvSpPr/>
          <p:nvPr/>
        </p:nvSpPr>
        <p:spPr>
          <a:xfrm>
            <a:off x="3456432" y="4105723"/>
            <a:ext cx="950976" cy="690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$2.5T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407408" y="4094260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invested annually</a:t>
            </a:r>
            <a:r>
              <a:rPr lang="en-US" sz="950" dirty="0"/>
              <a:t> </a:t>
            </a:r>
            <a:r>
              <a:rPr lang="en-US" sz="950" dirty="0">
                <a:solidFill>
                  <a:srgbClr val="93B4E8"/>
                </a:solidFill>
              </a:rPr>
              <a:t>with limited</a:t>
            </a:r>
            <a:r>
              <a:rPr lang="en-US" sz="950" dirty="0"/>
              <a:t> </a:t>
            </a:r>
            <a:r>
              <a:rPr lang="en-US" sz="950" dirty="0">
                <a:solidFill>
                  <a:srgbClr val="93B4E8"/>
                </a:solidFill>
              </a:rPr>
              <a:t>objective tools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0216" y="4005072"/>
            <a:ext cx="2743200" cy="822960"/>
          </a:xfrm>
          <a:prstGeom prst="rect">
            <a:avLst/>
          </a:prstGeom>
          <a:solidFill>
            <a:srgbClr val="2A4575"/>
          </a:solidFill>
          <a:ln/>
        </p:spPr>
      </p:sp>
      <p:sp>
        <p:nvSpPr>
          <p:cNvPr id="31" name="Text 29"/>
          <p:cNvSpPr/>
          <p:nvPr/>
        </p:nvSpPr>
        <p:spPr>
          <a:xfrm>
            <a:off x="6345936" y="4046220"/>
            <a:ext cx="1005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351776" y="411480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of founders say</a:t>
            </a:r>
            <a:r>
              <a:rPr lang="en-US" sz="950" dirty="0"/>
              <a:t> </a:t>
            </a:r>
            <a:r>
              <a:rPr lang="en-US" sz="950" dirty="0">
                <a:solidFill>
                  <a:srgbClr val="93B4E8"/>
                </a:solidFill>
              </a:rPr>
              <a:t>market assessment</a:t>
            </a:r>
            <a:r>
              <a:rPr lang="en-US" sz="950" dirty="0"/>
              <a:t> </a:t>
            </a:r>
            <a:r>
              <a:rPr lang="en-US" sz="950" dirty="0">
                <a:solidFill>
                  <a:srgbClr val="93B4E8"/>
                </a:solidFill>
              </a:rPr>
              <a:t>is their #1 challenge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1828800"/>
            <a:ext cx="3200400" cy="3200400"/>
          </a:xfrm>
          <a:prstGeom prst="ellipse">
            <a:avLst/>
          </a:prstGeom>
          <a:solidFill>
            <a:srgbClr val="05966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2004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7498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Opportunity Scout AI — two engines, one complete answer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160520" cy="196596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143000"/>
            <a:ext cx="4160520" cy="73152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61872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⚙️  Engine 1: Scoring Engine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4F0"/>
                </a:solidFill>
              </a:rPr>
              <a:t>Input:</a:t>
            </a:r>
            <a:r>
              <a:rPr lang="en-US" sz="1050" dirty="0">
                <a:solidFill>
                  <a:srgbClr val="93B4E8"/>
                </a:solidFill>
              </a:rPr>
              <a:t> Industry, country, founding year, funding rounds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201168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4F0"/>
                </a:solidFill>
              </a:rPr>
              <a:t>Process:</a:t>
            </a:r>
            <a:r>
              <a:rPr lang="en-US" sz="1050" dirty="0">
                <a:solidFill>
                  <a:srgbClr val="93B4E8"/>
                </a:solidFill>
              </a:rPr>
              <a:t> Gathers 80+ live signals from Google Trends, World Bank, Reddit &amp; GDELT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242316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4F0"/>
                </a:solidFill>
              </a:rPr>
              <a:t>Output:</a:t>
            </a:r>
            <a:r>
              <a:rPr lang="en-US" sz="1050" dirty="0">
                <a:solidFill>
                  <a:srgbClr val="93B4E8"/>
                </a:solidFill>
              </a:rPr>
              <a:t> A 0–100 viability score with confidence level and percentile ranking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46320" y="1143000"/>
            <a:ext cx="4160520" cy="196596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143000"/>
            <a:ext cx="4160520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261872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💡  Engine 2: Explanation Engine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160020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4F0"/>
                </a:solidFill>
              </a:rPr>
              <a:t>Input:</a:t>
            </a:r>
            <a:r>
              <a:rPr lang="en-US" sz="1050" dirty="0">
                <a:solidFill>
                  <a:srgbClr val="93B4E8"/>
                </a:solidFill>
              </a:rPr>
              <a:t> The prediction + the data that produced 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83480" y="201168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4F0"/>
                </a:solidFill>
              </a:rPr>
              <a:t>Process:</a:t>
            </a:r>
            <a:r>
              <a:rPr lang="en-US" sz="1050" dirty="0">
                <a:solidFill>
                  <a:srgbClr val="93B4E8"/>
                </a:solidFill>
              </a:rPr>
              <a:t> SHAP (SHapley Additive exPlanations) breaks the score into per-feature contributions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83480" y="242316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8C4F0"/>
                </a:solidFill>
              </a:rPr>
              <a:t>Output:</a:t>
            </a:r>
            <a:r>
              <a:rPr lang="en-US" sz="1050" dirty="0">
                <a:solidFill>
                  <a:srgbClr val="93B4E8"/>
                </a:solidFill>
              </a:rPr>
              <a:t> Plain-English reasons and specific improvement recommendations with estimated gains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2011680" cy="1463040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3101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48640" y="37033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Score Your Idea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3986784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3B4E8"/>
                </a:solidFill>
              </a:rPr>
              <a:t>0–100 viability score in under 200ms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651760" y="3246120"/>
            <a:ext cx="2011680" cy="1463040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3" name="Text 21"/>
          <p:cNvSpPr/>
          <p:nvPr/>
        </p:nvSpPr>
        <p:spPr>
          <a:xfrm>
            <a:off x="2651760" y="33101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743200" y="37033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Understand Why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3986784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3B4E8"/>
                </a:solidFill>
              </a:rPr>
              <a:t>SHAP attribution for every prediction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846320" y="3246120"/>
            <a:ext cx="2011680" cy="1463040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33101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937760" y="37033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What-If Simulator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3986784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3B4E8"/>
                </a:solidFill>
              </a:rPr>
              <a:t>'What if I raised $500K?’ - instant answer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040880" y="3246120"/>
            <a:ext cx="2011680" cy="1463040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31" name="Text 29"/>
          <p:cNvSpPr/>
          <p:nvPr/>
        </p:nvSpPr>
        <p:spPr>
          <a:xfrm>
            <a:off x="7040880" y="33101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132320" y="37033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Compare Ideas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0" y="3986784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3B4E8"/>
                </a:solidFill>
              </a:rPr>
              <a:t>Side-by-side ranking of multiple opportunities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solidFill>
            <a:srgbClr val="2A4575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84632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</a:rPr>
              <a:t>  Two modes: Entrepreneur mode focuses on market fit &amp; growth path · Investor mode emphasises returns, ecosystem, and portfolio fit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3200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Entrepreneur vs Investor Mode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7498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The same data — tailored insights depending on who's asking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114800" cy="3625596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73152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2161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 Entrepreneur Mode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5361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user_type: "entrepreneur"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828800"/>
            <a:ext cx="3840480" cy="566928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865376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" y="190195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Growth path focus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21792" y="20985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Score weighted toward trend slope, market momentum, and social engagement signals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3452" y="2507466"/>
            <a:ext cx="3840480" cy="566928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523744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1792" y="2592324"/>
            <a:ext cx="3418429" cy="1508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How to improve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1792" y="277977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Recommendations framed as: 'What can I change right now to get a higher score?'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3145536"/>
            <a:ext cx="3840480" cy="566928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182112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" y="3240996"/>
            <a:ext cx="3657600" cy="1605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What-If simulator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1792" y="3426438"/>
            <a:ext cx="3657600" cy="2311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Test funding scenarios, market pivots, and geographic expansion for instant score previews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3803904"/>
            <a:ext cx="3840480" cy="566928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40480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966" y="3840480"/>
            <a:ext cx="361142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Percentile benchmarking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7966" y="4096512"/>
            <a:ext cx="361142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See how your idea ranks vs other ventures in the same sector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1097280"/>
            <a:ext cx="4114800" cy="3625596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4880" y="1097280"/>
            <a:ext cx="4114800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4919472" y="12161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 Investor Mode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19472" y="15361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user_type: "investor"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1828800"/>
            <a:ext cx="3840480" cy="566928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1865376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919472" y="1901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Ecosystem &amp; macro lens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19473" y="2098548"/>
            <a:ext cx="3657600" cy="2423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Score emphasises economic health (GDP/inflation), startup density, and country ecosystem strength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92040" y="2487168"/>
            <a:ext cx="3840480" cy="566928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2523744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967591" y="2571750"/>
            <a:ext cx="3609481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Funding tier signals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967591" y="2768070"/>
            <a:ext cx="3609481" cy="2677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Tier classification (unfunded → seed → Series A → B+) with investment conviction signals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3145536"/>
            <a:ext cx="3840480" cy="566928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38" name="Text 36"/>
          <p:cNvSpPr/>
          <p:nvPr/>
        </p:nvSpPr>
        <p:spPr>
          <a:xfrm>
            <a:off x="4892040" y="3182112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967591" y="3200400"/>
            <a:ext cx="360948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Portfolio comparison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967591" y="3438144"/>
            <a:ext cx="360948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Compare up to 10 opportunities simultaneously — winner automatically highlighted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892040" y="3803904"/>
            <a:ext cx="3840480" cy="566928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42" name="Text 40"/>
          <p:cNvSpPr/>
          <p:nvPr/>
        </p:nvSpPr>
        <p:spPr>
          <a:xfrm>
            <a:off x="4892040" y="3840480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967591" y="3858768"/>
            <a:ext cx="360948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GDP context overlay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67591" y="4059936"/>
            <a:ext cx="360948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Every result includes a gdp_context field explaining macro conditions for that country/year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347472" y="4747746"/>
            <a:ext cx="8229600" cy="24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A7BA0"/>
                </a:solidFill>
              </a:rPr>
              <a:t>Same underlying model — different narrative framing and recommendation priorities per user type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32004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21792" y="7498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Landing page — first impression + user type selection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8053" y="1436999"/>
            <a:ext cx="1719072" cy="658368"/>
          </a:xfrm>
          <a:prstGeom prst="rect">
            <a:avLst/>
          </a:prstGeom>
          <a:solidFill>
            <a:srgbClr val="243564"/>
          </a:solidFill>
          <a:ln w="12700">
            <a:solidFill>
              <a:srgbClr val="5B8DEE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9" name="Text 6"/>
          <p:cNvSpPr/>
          <p:nvPr/>
        </p:nvSpPr>
        <p:spPr>
          <a:xfrm>
            <a:off x="7351776" y="1472184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Entrepreneur 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Investor mode toggle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351776" y="2798544"/>
            <a:ext cx="1719072" cy="658368"/>
          </a:xfrm>
          <a:prstGeom prst="rect">
            <a:avLst/>
          </a:prstGeom>
          <a:solidFill>
            <a:srgbClr val="243564"/>
          </a:solidFill>
          <a:ln w="12700">
            <a:solidFill>
              <a:srgbClr val="5B8D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87055" y="2821619"/>
            <a:ext cx="1650070" cy="5806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Live sample score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with SHAP bars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1248" y="4744617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BA0"/>
                </a:solidFill>
              </a:rPr>
              <a:t>The landing page shows a live sample score so users know immediately what they'll receive — no sign-up required to explore.</a:t>
            </a:r>
            <a:endParaRPr lang="en-US" sz="1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0DF662-10FC-1FB5-CD49-F7CEFFEB6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32" y="1051560"/>
            <a:ext cx="7031387" cy="35700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5A52C9-6CAB-3C3E-4760-B78147B7C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" y="318264"/>
            <a:ext cx="8496300" cy="4506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573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A8D29E-646F-5545-7B16-357821C48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0" y="294547"/>
            <a:ext cx="8506287" cy="43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893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32004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Dashboard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21792" y="74980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Input idea → Instant explainable score with tailored recommendations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658368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132320" y="1097280"/>
            <a:ext cx="1737360" cy="822960"/>
          </a:xfrm>
          <a:prstGeom prst="rect">
            <a:avLst/>
          </a:prstGeom>
          <a:solidFill>
            <a:srgbClr val="243564"/>
          </a:solidFill>
          <a:ln w="12700">
            <a:solidFill>
              <a:srgbClr val="1E9EB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223760" y="1179576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① Input Form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23760" y="142646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Industry, country, year,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funding &amp; rounds + user type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132320" y="2148840"/>
            <a:ext cx="1737360" cy="822960"/>
          </a:xfrm>
          <a:prstGeom prst="rect">
            <a:avLst/>
          </a:prstGeom>
          <a:solidFill>
            <a:srgbClr val="243564"/>
          </a:solidFill>
          <a:ln w="12700">
            <a:solidFill>
              <a:srgbClr val="1E9EB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2231136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② Score Ring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0" y="24780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0–100 score, tier badge,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confidence &amp; range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132320" y="3063240"/>
            <a:ext cx="1737360" cy="822960"/>
          </a:xfrm>
          <a:prstGeom prst="rect">
            <a:avLst/>
          </a:prstGeom>
          <a:solidFill>
            <a:srgbClr val="243564"/>
          </a:solidFill>
          <a:ln w="12700">
            <a:solidFill>
              <a:srgbClr val="1E9EB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23760" y="3145536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③ SHAP Bars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223760" y="33924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Visual attributions —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what helped vs. hurt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132320" y="3977640"/>
            <a:ext cx="1737360" cy="822960"/>
          </a:xfrm>
          <a:prstGeom prst="rect">
            <a:avLst/>
          </a:prstGeom>
          <a:solidFill>
            <a:srgbClr val="243564"/>
          </a:solidFill>
          <a:ln w="12700">
            <a:solidFill>
              <a:srgbClr val="1E9E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23760" y="4059936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④ Action Cards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223760" y="4306824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Recommendations with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estimated point gain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32004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Signals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21792" y="74980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4 real-time APIs feed the model — with automatic fallback to historical CSV data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5840"/>
            <a:ext cx="841248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4206240"/>
            <a:ext cx="8229600" cy="86868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2976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Quality Scoring: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4553712"/>
            <a:ext cx="1828800" cy="365760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" y="4553712"/>
            <a:ext cx="18288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46268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100% — All 4 APIs live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651760" y="4553712"/>
            <a:ext cx="1828800" cy="365760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2" name="Shape 9"/>
          <p:cNvSpPr/>
          <p:nvPr/>
        </p:nvSpPr>
        <p:spPr>
          <a:xfrm>
            <a:off x="2651760" y="4553712"/>
            <a:ext cx="1828800" cy="45720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3" name="Text 10"/>
          <p:cNvSpPr/>
          <p:nvPr/>
        </p:nvSpPr>
        <p:spPr>
          <a:xfrm>
            <a:off x="2724912" y="46268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75% — 3 APIs live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663440" y="4553712"/>
            <a:ext cx="1828800" cy="365760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4553712"/>
            <a:ext cx="1828800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3"/>
          <p:cNvSpPr/>
          <p:nvPr/>
        </p:nvSpPr>
        <p:spPr>
          <a:xfrm>
            <a:off x="4736592" y="46268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50% — 2 APIs live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75120" y="4553712"/>
            <a:ext cx="1828800" cy="365760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8" name="Shape 15"/>
          <p:cNvSpPr/>
          <p:nvPr/>
        </p:nvSpPr>
        <p:spPr>
          <a:xfrm>
            <a:off x="6675120" y="4553712"/>
            <a:ext cx="1828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748272" y="46268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25% — CSV fallback only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995043" y="48984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BA0"/>
                </a:solidFill>
              </a:rPr>
              <a:t>The frontend shows a quality_label badge (High / Medium / Low) on every result so users know how fresh the data is.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32004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LightGBM Model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21792" y="7498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Why LightGBM — and how it compares to alternatives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042416"/>
            <a:ext cx="5084064" cy="288950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60720" y="1024128"/>
            <a:ext cx="3063240" cy="292608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8" name="Text 5"/>
          <p:cNvSpPr/>
          <p:nvPr/>
        </p:nvSpPr>
        <p:spPr>
          <a:xfrm>
            <a:off x="5925312" y="1133856"/>
            <a:ext cx="2724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Why LightGBM Won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52160" y="1451659"/>
            <a:ext cx="2834640" cy="493776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481328"/>
            <a:ext cx="4389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892712" y="1499616"/>
            <a:ext cx="1623526" cy="14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Speed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892712" y="1664208"/>
            <a:ext cx="2757511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Gradient boosting on leaves (not depth-first) → sub-200ms even on 86 features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52160" y="2011680"/>
            <a:ext cx="2834640" cy="493776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4" name="Text 11"/>
          <p:cNvSpPr/>
          <p:nvPr/>
        </p:nvSpPr>
        <p:spPr>
          <a:xfrm>
            <a:off x="5852160" y="2048256"/>
            <a:ext cx="4389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875442" y="2075688"/>
            <a:ext cx="1712132" cy="150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Accuracy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875442" y="2251597"/>
            <a:ext cx="277478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MAE &lt; 10 pts on held-out ventures  best of all models tested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870448" y="2578607"/>
            <a:ext cx="2834640" cy="603505"/>
          </a:xfrm>
          <a:prstGeom prst="rect">
            <a:avLst/>
          </a:prstGeom>
          <a:solidFill>
            <a:srgbClr val="1E3A6E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18" name="Text 15"/>
          <p:cNvSpPr/>
          <p:nvPr/>
        </p:nvSpPr>
        <p:spPr>
          <a:xfrm>
            <a:off x="5852160" y="2615184"/>
            <a:ext cx="4389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870448" y="2615184"/>
            <a:ext cx="1542029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SHAP Native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852160" y="2820827"/>
            <a:ext cx="2852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Tree-based SHAP is exact (not approximate) every explanation is mathematically correct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52160" y="3268623"/>
            <a:ext cx="2834640" cy="594360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2" name="Text 19"/>
          <p:cNvSpPr/>
          <p:nvPr/>
        </p:nvSpPr>
        <p:spPr>
          <a:xfrm>
            <a:off x="5852160" y="3182112"/>
            <a:ext cx="4389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870448" y="3223162"/>
            <a:ext cx="2679192" cy="1418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Handles Sparse Data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892712" y="3406042"/>
            <a:ext cx="2812376" cy="3746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Many features are zero when APIs fail — LightGBM handles sparse input natively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4041648"/>
            <a:ext cx="8229600" cy="100584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4133087"/>
            <a:ext cx="1371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Training Details: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148840" y="4114800"/>
            <a:ext cx="1554480" cy="7863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8" name="Text 25"/>
          <p:cNvSpPr/>
          <p:nvPr/>
        </p:nvSpPr>
        <p:spPr>
          <a:xfrm>
            <a:off x="2148840" y="41605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7BA0"/>
                </a:solidFill>
              </a:rPr>
              <a:t>Dataset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2148840" y="43708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10000+ historical ventures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3840480" y="4114800"/>
            <a:ext cx="1554480" cy="7863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31" name="Text 28"/>
          <p:cNvSpPr/>
          <p:nvPr/>
        </p:nvSpPr>
        <p:spPr>
          <a:xfrm>
            <a:off x="3840480" y="41605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7BA0"/>
                </a:solidFill>
              </a:rPr>
              <a:t>Split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3840480" y="43708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Time-based (older trains, newer tests)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532120" y="4114800"/>
            <a:ext cx="1554480" cy="7863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34" name="Text 31"/>
          <p:cNvSpPr/>
          <p:nvPr/>
        </p:nvSpPr>
        <p:spPr>
          <a:xfrm>
            <a:off x="5532120" y="41605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7BA0"/>
                </a:solidFill>
              </a:rPr>
              <a:t>Backup model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5532120" y="43708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XGBoost (auto-failover)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223760" y="4114800"/>
            <a:ext cx="1554480" cy="7863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37" name="Text 34"/>
          <p:cNvSpPr/>
          <p:nvPr/>
        </p:nvSpPr>
        <p:spPr>
          <a:xfrm>
            <a:off x="7223760" y="41605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7BA0"/>
                </a:solidFill>
              </a:rPr>
              <a:t>Calibration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7223760" y="43708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Platt scaling → 0–100 range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32004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21792" y="7498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Which of the 86 features matter most — and why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3035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042416"/>
            <a:ext cx="5266944" cy="32095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315968"/>
            <a:ext cx="5303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7BA0"/>
                </a:solidFill>
              </a:rPr>
              <a:t>Feature importance from trained LightGBM model (% of total gain)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943600" y="1024128"/>
            <a:ext cx="2880360" cy="324612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9" name="Text 6"/>
          <p:cNvSpPr/>
          <p:nvPr/>
        </p:nvSpPr>
        <p:spPr>
          <a:xfrm>
            <a:off x="6080760" y="1133856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Category Breakdown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1444752"/>
            <a:ext cx="2651760" cy="585216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1" name="Shape 8"/>
          <p:cNvSpPr/>
          <p:nvPr/>
        </p:nvSpPr>
        <p:spPr>
          <a:xfrm>
            <a:off x="6035040" y="1444752"/>
            <a:ext cx="54864" cy="585216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2" name="Text 9"/>
          <p:cNvSpPr/>
          <p:nvPr/>
        </p:nvSpPr>
        <p:spPr>
          <a:xfrm>
            <a:off x="6144768" y="1481328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Market Signals  ~51%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144768" y="168249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trend_slope · market_validation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gdp_growth · news_volume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35040" y="2103120"/>
            <a:ext cx="2651760" cy="585216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5" name="Shape 12"/>
          <p:cNvSpPr/>
          <p:nvPr/>
        </p:nvSpPr>
        <p:spPr>
          <a:xfrm>
            <a:off x="6035040" y="2103120"/>
            <a:ext cx="54864" cy="58521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3"/>
          <p:cNvSpPr/>
          <p:nvPr/>
        </p:nvSpPr>
        <p:spPr>
          <a:xfrm>
            <a:off x="6144768" y="2139696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Social Signals  ~14%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144768" y="2340864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news_sentiment · reddit_density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reddit_density_log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035040" y="2761488"/>
            <a:ext cx="2651760" cy="585216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9" name="Shape 16"/>
          <p:cNvSpPr/>
          <p:nvPr/>
        </p:nvSpPr>
        <p:spPr>
          <a:xfrm>
            <a:off x="6035040" y="2761488"/>
            <a:ext cx="54864" cy="585216"/>
          </a:xfrm>
          <a:prstGeom prst="rect">
            <a:avLst/>
          </a:prstGeom>
          <a:solidFill>
            <a:srgbClr val="7C5CBF"/>
          </a:solidFill>
          <a:ln/>
        </p:spPr>
      </p:sp>
      <p:sp>
        <p:nvSpPr>
          <p:cNvPr id="20" name="Text 17"/>
          <p:cNvSpPr/>
          <p:nvPr/>
        </p:nvSpPr>
        <p:spPr>
          <a:xfrm>
            <a:off x="6144768" y="2798064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Economic  ~15%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144768" y="299923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econ_health · ecosystem_strength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investment_climate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035040" y="3419856"/>
            <a:ext cx="2651760" cy="585216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3" name="Shape 20"/>
          <p:cNvSpPr/>
          <p:nvPr/>
        </p:nvSpPr>
        <p:spPr>
          <a:xfrm>
            <a:off x="6035040" y="3419856"/>
            <a:ext cx="54864" cy="58521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4" name="Text 21"/>
          <p:cNvSpPr/>
          <p:nvPr/>
        </p:nvSpPr>
        <p:spPr>
          <a:xfrm>
            <a:off x="6144768" y="345643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Funding  ~20%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44768" y="36576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log_funding · funding_rounds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funding_per_round · funding_tier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57200" y="4553712"/>
            <a:ext cx="8229600" cy="502920"/>
          </a:xfrm>
          <a:prstGeom prst="rect">
            <a:avLst/>
          </a:prstGeom>
          <a:solidFill>
            <a:srgbClr val="1E3A6E"/>
          </a:solidFill>
          <a:ln w="12700">
            <a:solidFill>
              <a:srgbClr val="5B8DE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21208" y="4626864"/>
            <a:ext cx="12161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C4F0"/>
                </a:solidFill>
              </a:rPr>
              <a:t>  Key insight: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691640" y="4626864"/>
            <a:ext cx="6812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B4E8"/>
                </a:solidFill>
              </a:rPr>
              <a:t>Market momentum (trend_slope + market_validation) drives ~30% of the score — meaning a hot market can overcome weak funding, but no market can overcome a dead trend.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SHAP Feature Importan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950" y="469900"/>
            <a:ext cx="2940050" cy="4381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FE4E027-00D0-78E2-76A2-09AABB51B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1" y="469900"/>
            <a:ext cx="3047509" cy="4381500"/>
          </a:xfrm>
          <a:prstGeom prst="rect">
            <a:avLst/>
          </a:prstGeom>
        </p:spPr>
      </p:pic>
      <p:pic>
        <p:nvPicPr>
          <p:cNvPr id="47" name="Correlation Heatma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4450" y="469900"/>
            <a:ext cx="2520950" cy="4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9826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32004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Engineered Features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21792" y="74980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From raw signals to model-ready features — five transformation families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1019357"/>
            <a:ext cx="4572000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166360" y="1005840"/>
            <a:ext cx="1874520" cy="1261872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7" name="Shape 4"/>
          <p:cNvSpPr/>
          <p:nvPr/>
        </p:nvSpPr>
        <p:spPr>
          <a:xfrm>
            <a:off x="5166360" y="1005840"/>
            <a:ext cx="1874520" cy="54864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8" name="Text 5"/>
          <p:cNvSpPr/>
          <p:nvPr/>
        </p:nvSpPr>
        <p:spPr>
          <a:xfrm>
            <a:off x="5257800" y="109728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Market Signals (15)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257800" y="1353312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Google Trends slope &amp; growth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257800" y="15544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News volume (log-scaled)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257800" y="1755648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Social media sentiment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257800" y="1956816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Trend × GDP interaction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166360" y="2395728"/>
            <a:ext cx="1874520" cy="1261872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4" name="Shape 11"/>
          <p:cNvSpPr/>
          <p:nvPr/>
        </p:nvSpPr>
        <p:spPr>
          <a:xfrm>
            <a:off x="5166360" y="2395728"/>
            <a:ext cx="1874520" cy="54864"/>
          </a:xfrm>
          <a:prstGeom prst="rect">
            <a:avLst/>
          </a:prstGeom>
          <a:solidFill>
            <a:srgbClr val="1E6DB5"/>
          </a:solidFill>
          <a:ln/>
        </p:spPr>
      </p:sp>
      <p:sp>
        <p:nvSpPr>
          <p:cNvPr id="15" name="Text 12"/>
          <p:cNvSpPr/>
          <p:nvPr/>
        </p:nvSpPr>
        <p:spPr>
          <a:xfrm>
            <a:off x="5257800" y="248716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Competition (10)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57800" y="274320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Market concentration index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257800" y="2944368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Funding level of competitors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257800" y="3145536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Differentiation signal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257800" y="3346704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Barrier to entry estimate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166360" y="3785616"/>
            <a:ext cx="1874520" cy="1261872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1" name="Shape 18"/>
          <p:cNvSpPr/>
          <p:nvPr/>
        </p:nvSpPr>
        <p:spPr>
          <a:xfrm>
            <a:off x="5166360" y="3785616"/>
            <a:ext cx="18745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2" name="Text 19"/>
          <p:cNvSpPr/>
          <p:nvPr/>
        </p:nvSpPr>
        <p:spPr>
          <a:xfrm>
            <a:off x="5257800" y="3877056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Funding (10)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257800" y="4133088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log_funding (log₁₀ transform)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257800" y="4334256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funding_rounds × funding_log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257800" y="4535424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funding_per_round average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257800" y="4736592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Tier one-hot (seed/A/B+)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7223760" y="1005840"/>
            <a:ext cx="1874520" cy="1261872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8" name="Shape 25"/>
          <p:cNvSpPr/>
          <p:nvPr/>
        </p:nvSpPr>
        <p:spPr>
          <a:xfrm>
            <a:off x="7223760" y="1005840"/>
            <a:ext cx="1874520" cy="54864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0" y="109728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Feasibility (8)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0" y="1353312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Startup density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7315200" y="15544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Economic health index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315200" y="1755648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Real GDP growth rate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7315200" y="1956816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Investment climate ratio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7223760" y="2395728"/>
            <a:ext cx="1874520" cy="1261872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35" name="Shape 32"/>
          <p:cNvSpPr/>
          <p:nvPr/>
        </p:nvSpPr>
        <p:spPr>
          <a:xfrm>
            <a:off x="7223760" y="2395728"/>
            <a:ext cx="187452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6" name="Text 33"/>
          <p:cNvSpPr/>
          <p:nvPr/>
        </p:nvSpPr>
        <p:spPr>
          <a:xfrm>
            <a:off x="7315200" y="248716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External (7)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7315200" y="274320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Country ecosystem strength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7315200" y="2944368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Country top-10 one-hot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315200" y="3145536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Z-score normalisations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7315200" y="3346704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3B4E8"/>
                </a:solidFill>
              </a:rPr>
              <a:t>· Econ health squared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57200" y="3337560"/>
            <a:ext cx="4389120" cy="1719072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42" name="Text 39"/>
          <p:cNvSpPr/>
          <p:nvPr/>
        </p:nvSpPr>
        <p:spPr>
          <a:xfrm>
            <a:off x="640080" y="344728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🔬  Key Engineering Techniques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640080" y="374904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✓  Log transforms — log₁₀(funding+1) fairly compares $1K and $1B raises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640080" y="4041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✓  Interaction terms — trend × GDP captures 'hot market in growing economy'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640080" y="433425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✓  Z-score normalisation — makes features comparable across industries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640080" y="4626864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✓  One-hot encoding — country top-10, funding tier, sector category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5B8DEE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A8C4F0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2743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AI: Why We Use SHAP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21792" y="7132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B4E8"/>
                </a:solidFill>
              </a:rPr>
              <a:t>Making predictions transparent — not a black box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53035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005840"/>
            <a:ext cx="5266944" cy="288950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50208"/>
            <a:ext cx="5303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7BA0"/>
                </a:solidFill>
              </a:rPr>
              <a:t>Sample SHAP chart — Healthcare · USA · 2019 · $2.5M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943600" y="987552"/>
            <a:ext cx="2880360" cy="137160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0" name="Text 7"/>
          <p:cNvSpPr/>
          <p:nvPr/>
        </p:nvSpPr>
        <p:spPr>
          <a:xfrm>
            <a:off x="6080760" y="107899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What is SHAP?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080760" y="137160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SHapley Additive exPlanations — a Nobel Prize–inspired method that decomposes every prediction into exact per-feature contributions. Not approximate. Not guesswork.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943600" y="2432304"/>
            <a:ext cx="2880360" cy="1389888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3" name="Text 10"/>
          <p:cNvSpPr/>
          <p:nvPr/>
        </p:nvSpPr>
        <p:spPr>
          <a:xfrm>
            <a:off x="6080760" y="2523744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Reading the Chart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80760" y="2834640"/>
            <a:ext cx="804672" cy="20116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2"/>
          <p:cNvSpPr/>
          <p:nvPr/>
        </p:nvSpPr>
        <p:spPr>
          <a:xfrm>
            <a:off x="6949440" y="2852928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Green = factors boosting your score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080760" y="3127248"/>
            <a:ext cx="804672" cy="20116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3145536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Red = factors dragging score down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080760" y="3419856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Bar length = magnitude of impact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0" y="3913632"/>
            <a:ext cx="2880360" cy="1170432"/>
          </a:xfrm>
          <a:prstGeom prst="rect">
            <a:avLst/>
          </a:prstGeom>
          <a:solidFill>
            <a:srgbClr val="1E3A6E"/>
          </a:solidFill>
          <a:ln w="12700">
            <a:solidFill>
              <a:srgbClr val="5B8DE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80760" y="400507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8C4F0"/>
                </a:solidFill>
              </a:rPr>
              <a:t>Business Value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80760" y="4297680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Unlike a credit score that just gives a number, Opportunity Scout provides a specific to-do list — each recommendation shows estimated point gain so users know what to prioritise.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65836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B4E8"/>
                </a:solidFill>
              </a:rPr>
              <a:t>How all components connect — from user input to final report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3218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978408"/>
            <a:ext cx="8375904" cy="31821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224528"/>
            <a:ext cx="8412480" cy="77724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4297680"/>
            <a:ext cx="1508760" cy="621792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297680"/>
            <a:ext cx="1508760" cy="54864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4361688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BA0"/>
                </a:solidFill>
              </a:rPr>
              <a:t>Frontend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02920" y="455371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HTML + CSS + JS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76272" y="4297680"/>
            <a:ext cx="1508760" cy="621792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3" name="Shape 10"/>
          <p:cNvSpPr/>
          <p:nvPr/>
        </p:nvSpPr>
        <p:spPr>
          <a:xfrm>
            <a:off x="2176272" y="4297680"/>
            <a:ext cx="1508760" cy="54864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14" name="Text 11"/>
          <p:cNvSpPr/>
          <p:nvPr/>
        </p:nvSpPr>
        <p:spPr>
          <a:xfrm>
            <a:off x="2176272" y="4361688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BA0"/>
                </a:solidFill>
              </a:rPr>
              <a:t>Backend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176272" y="455371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FastAPI (Python)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49624" y="4297680"/>
            <a:ext cx="1508760" cy="621792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7" name="Shape 14"/>
          <p:cNvSpPr/>
          <p:nvPr/>
        </p:nvSpPr>
        <p:spPr>
          <a:xfrm>
            <a:off x="3849624" y="4297680"/>
            <a:ext cx="150876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8" name="Text 15"/>
          <p:cNvSpPr/>
          <p:nvPr/>
        </p:nvSpPr>
        <p:spPr>
          <a:xfrm>
            <a:off x="3849624" y="4361688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BA0"/>
                </a:solidFill>
              </a:rPr>
              <a:t>AI Model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3849624" y="455371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LightGBM + XGBoost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22976" y="4297680"/>
            <a:ext cx="1508760" cy="621792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1" name="Shape 18"/>
          <p:cNvSpPr/>
          <p:nvPr/>
        </p:nvSpPr>
        <p:spPr>
          <a:xfrm>
            <a:off x="5522976" y="4297680"/>
            <a:ext cx="15087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19"/>
          <p:cNvSpPr/>
          <p:nvPr/>
        </p:nvSpPr>
        <p:spPr>
          <a:xfrm>
            <a:off x="5522976" y="4361688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BA0"/>
                </a:solidFill>
              </a:rPr>
              <a:t>Explainability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522976" y="455371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SHAP TreeExplainer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196328" y="4297680"/>
            <a:ext cx="1508760" cy="621792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5" name="Shape 22"/>
          <p:cNvSpPr/>
          <p:nvPr/>
        </p:nvSpPr>
        <p:spPr>
          <a:xfrm>
            <a:off x="7196328" y="4297680"/>
            <a:ext cx="150876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3"/>
          <p:cNvSpPr/>
          <p:nvPr/>
        </p:nvSpPr>
        <p:spPr>
          <a:xfrm>
            <a:off x="7196328" y="4361688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7BA0"/>
                </a:solidFill>
              </a:rPr>
              <a:t>Live Data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196328" y="455371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 APIs + CSV fallback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32004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AI 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21792" y="7498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Walkthrough of the prediction pipeline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042416"/>
            <a:ext cx="8375904" cy="7863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997964"/>
            <a:ext cx="2743200" cy="2677798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8" name="Shape 5"/>
          <p:cNvSpPr/>
          <p:nvPr/>
        </p:nvSpPr>
        <p:spPr>
          <a:xfrm>
            <a:off x="457200" y="1965960"/>
            <a:ext cx="2743200" cy="64008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20482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66928" y="2061972"/>
            <a:ext cx="251460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1–2: Gather Fresh Data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2432304"/>
            <a:ext cx="2514600" cy="23911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On submission, the system contacts 4 live sources: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• Google Trends — is search interest growing?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• World Bank — economic conditions in target country?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• Reddit — community activity around the topic?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• GDELT — is media coverage positive or negative?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CSV fallback is seamless — users don't notice outages.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401568" y="2004838"/>
            <a:ext cx="2743200" cy="2670924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01568" y="1965960"/>
            <a:ext cx="2743200" cy="64008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4" name="Text 11"/>
          <p:cNvSpPr/>
          <p:nvPr/>
        </p:nvSpPr>
        <p:spPr>
          <a:xfrm>
            <a:off x="3401568" y="20482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11296" y="2068846"/>
            <a:ext cx="2596896" cy="345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FFFFFF"/>
                </a:solidFill>
              </a:rPr>
              <a:t>Step 3: Engineer 86 Features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511296" y="2432304"/>
            <a:ext cx="2514600" cy="224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Raw signals are transformed: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• Log-scaled funding prevents skew from outliers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• Interaction terms (trend × GDP) capture compound effects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• Z-score normalisation standardises across industries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• One-hot encoding for country, sector, funding tier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• Derived metrics: econ_health, market_validation, investment_climate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345936" y="1965960"/>
            <a:ext cx="2743200" cy="2709802"/>
          </a:xfrm>
          <a:prstGeom prst="rect">
            <a:avLst/>
          </a:prstGeom>
          <a:solidFill>
            <a:srgbClr val="243564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18" name="Shape 15"/>
          <p:cNvSpPr/>
          <p:nvPr/>
        </p:nvSpPr>
        <p:spPr>
          <a:xfrm>
            <a:off x="6345936" y="1965960"/>
            <a:ext cx="274320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Text 16"/>
          <p:cNvSpPr/>
          <p:nvPr/>
        </p:nvSpPr>
        <p:spPr>
          <a:xfrm>
            <a:off x="6345936" y="20482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55664" y="2061972"/>
            <a:ext cx="2633472" cy="5097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4–6: Score + Explain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55663" y="2432304"/>
            <a:ext cx="2565119" cy="209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LightGBM combines all 86 features and outputs a raw score, calibrated to 0–100 via Platt scaling.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SHAP TreeExplainer then reverse-engineers the prediction — which features helped? Which hurt? By exactly how much?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Recommendations are generated from the bottom negative-SHAP features, each tagged with projected score gain.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27432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Score Examples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65836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B4E8"/>
                </a:solidFill>
              </a:rPr>
              <a:t>Three real evaluations — different profiles, different outcomes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2743200" cy="411480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87552"/>
            <a:ext cx="2743200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1155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US Healthcare AI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1389888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BA0"/>
                </a:solidFill>
              </a:rPr>
              <a:t>Healthcare · USA · 2019 · $2.5M · 3 rounds</a:t>
            </a:r>
            <a:endParaRPr lang="en-US" sz="8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609344"/>
            <a:ext cx="1828800" cy="18288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3493008"/>
            <a:ext cx="1097280" cy="42062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52958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A7BA0"/>
                </a:solidFill>
              </a:rPr>
              <a:t>Confidence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566928" y="371246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90%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755648" y="3493008"/>
            <a:ext cx="1097280" cy="42062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4" name="Text 11"/>
          <p:cNvSpPr/>
          <p:nvPr/>
        </p:nvSpPr>
        <p:spPr>
          <a:xfrm>
            <a:off x="1755648" y="352958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A7BA0"/>
                </a:solidFill>
              </a:rPr>
              <a:t>Percentile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1755648" y="371246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84th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398678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▲ Strong search trend growth (+8.2)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16966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▲ Favourable US ecosystem (+5.4)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35254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</a:rPr>
              <a:t>▼ Competitive market saturation (-2.8)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401568" y="987552"/>
            <a:ext cx="2743200" cy="411480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0" name="Shape 17"/>
          <p:cNvSpPr/>
          <p:nvPr/>
        </p:nvSpPr>
        <p:spPr>
          <a:xfrm>
            <a:off x="3401568" y="987552"/>
            <a:ext cx="274320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8"/>
          <p:cNvSpPr/>
          <p:nvPr/>
        </p:nvSpPr>
        <p:spPr>
          <a:xfrm>
            <a:off x="3511296" y="11155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Kenya Fintech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511296" y="1389888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BA0"/>
                </a:solidFill>
              </a:rPr>
              <a:t>Finance &amp; Fintech · Kenya · 2019 · $0 · 0 rounds</a:t>
            </a:r>
            <a:endParaRPr lang="en-US" sz="850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768" y="1609344"/>
            <a:ext cx="1828800" cy="182880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11296" y="3493008"/>
            <a:ext cx="1097280" cy="42062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5" name="Text 21"/>
          <p:cNvSpPr/>
          <p:nvPr/>
        </p:nvSpPr>
        <p:spPr>
          <a:xfrm>
            <a:off x="3511296" y="352958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A7BA0"/>
                </a:solidFill>
              </a:rPr>
              <a:t>Confidence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3511296" y="371246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85%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700016" y="3493008"/>
            <a:ext cx="1097280" cy="42062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8" name="Text 24"/>
          <p:cNvSpPr/>
          <p:nvPr/>
        </p:nvSpPr>
        <p:spPr>
          <a:xfrm>
            <a:off x="4700016" y="352958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A7BA0"/>
                </a:solidFill>
              </a:rPr>
              <a:t>Percentile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4700016" y="371246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72nd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3511296" y="398678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▲ Rising mobile money trend (+6.1)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3511296" y="416966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▲ Strong community engagement (+2.9)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3511296" y="435254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</a:rPr>
              <a:t>▼ No external funding raised (-4.5)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3511296" y="453542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</a:rPr>
              <a:t>▼ Smaller ecosystem (-2.1)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6345936" y="987552"/>
            <a:ext cx="2743200" cy="411480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35" name="Shape 31"/>
          <p:cNvSpPr/>
          <p:nvPr/>
        </p:nvSpPr>
        <p:spPr>
          <a:xfrm>
            <a:off x="6345936" y="987552"/>
            <a:ext cx="274320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Text 32"/>
          <p:cNvSpPr/>
          <p:nvPr/>
        </p:nvSpPr>
        <p:spPr>
          <a:xfrm>
            <a:off x="6455664" y="11155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AgriTech India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6455664" y="1389888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BA0"/>
                </a:solidFill>
              </a:rPr>
              <a:t>AgriTech · India · 2015 · $150K · 1 round</a:t>
            </a:r>
            <a:endParaRPr lang="en-US" sz="850" dirty="0"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36" y="1609344"/>
            <a:ext cx="1828800" cy="1828800"/>
          </a:xfrm>
          <a:prstGeom prst="rect">
            <a:avLst/>
          </a:prstGeom>
        </p:spPr>
      </p:pic>
      <p:sp>
        <p:nvSpPr>
          <p:cNvPr id="39" name="Shape 34"/>
          <p:cNvSpPr/>
          <p:nvPr/>
        </p:nvSpPr>
        <p:spPr>
          <a:xfrm>
            <a:off x="6455664" y="3493008"/>
            <a:ext cx="1097280" cy="42062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40" name="Text 35"/>
          <p:cNvSpPr/>
          <p:nvPr/>
        </p:nvSpPr>
        <p:spPr>
          <a:xfrm>
            <a:off x="6455664" y="352958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A7BA0"/>
                </a:solidFill>
              </a:rPr>
              <a:t>Confidence</a:t>
            </a:r>
            <a:endParaRPr lang="en-US" sz="750" dirty="0"/>
          </a:p>
        </p:txBody>
      </p:sp>
      <p:sp>
        <p:nvSpPr>
          <p:cNvPr id="41" name="Text 36"/>
          <p:cNvSpPr/>
          <p:nvPr/>
        </p:nvSpPr>
        <p:spPr>
          <a:xfrm>
            <a:off x="6455664" y="371246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85%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7644384" y="3493008"/>
            <a:ext cx="1097280" cy="42062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43" name="Text 38"/>
          <p:cNvSpPr/>
          <p:nvPr/>
        </p:nvSpPr>
        <p:spPr>
          <a:xfrm>
            <a:off x="7644384" y="352958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A7BA0"/>
                </a:solidFill>
              </a:rPr>
              <a:t>Percentile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7644384" y="371246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58th</a:t>
            </a:r>
            <a:endParaRPr lang="en-US" sz="1200" dirty="0"/>
          </a:p>
        </p:txBody>
      </p:sp>
      <p:sp>
        <p:nvSpPr>
          <p:cNvPr id="45" name="Text 40"/>
          <p:cNvSpPr/>
          <p:nvPr/>
        </p:nvSpPr>
        <p:spPr>
          <a:xfrm>
            <a:off x="6455664" y="398678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▲ Large addressable market (+5.1)</a:t>
            </a:r>
            <a:endParaRPr lang="en-US" sz="850" dirty="0"/>
          </a:p>
        </p:txBody>
      </p:sp>
      <p:sp>
        <p:nvSpPr>
          <p:cNvPr id="46" name="Text 41"/>
          <p:cNvSpPr/>
          <p:nvPr/>
        </p:nvSpPr>
        <p:spPr>
          <a:xfrm>
            <a:off x="6455664" y="416966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▲ GDP growth tailwind (+3.8)</a:t>
            </a:r>
            <a:endParaRPr lang="en-US" sz="850" dirty="0"/>
          </a:p>
        </p:txBody>
      </p:sp>
      <p:sp>
        <p:nvSpPr>
          <p:cNvPr id="47" name="Text 42"/>
          <p:cNvSpPr/>
          <p:nvPr/>
        </p:nvSpPr>
        <p:spPr>
          <a:xfrm>
            <a:off x="6455664" y="435254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</a:rPr>
              <a:t>▼ Low search trend slope (-5.2)</a:t>
            </a:r>
            <a:endParaRPr lang="en-US" sz="850" dirty="0"/>
          </a:p>
        </p:txBody>
      </p:sp>
      <p:sp>
        <p:nvSpPr>
          <p:cNvPr id="48" name="Text 43"/>
          <p:cNvSpPr/>
          <p:nvPr/>
        </p:nvSpPr>
        <p:spPr>
          <a:xfrm>
            <a:off x="6455664" y="453542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</a:rPr>
              <a:t>▼ Seed-stage funding penalty (-3.1)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05966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2004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7498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How accurate is Opportunity Scout AI?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160520" cy="141732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188720"/>
            <a:ext cx="4160520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98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234440" y="1353312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 pts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234440" y="19933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B4E8"/>
                </a:solidFill>
              </a:rPr>
              <a:t>Average score error (MAE)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1188720"/>
            <a:ext cx="4160520" cy="141732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188720"/>
            <a:ext cx="4160520" cy="64008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298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623560" y="1353312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623560" y="19933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B4E8"/>
                </a:solidFill>
              </a:rPr>
              <a:t>Top opportunities identified correctly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761488"/>
            <a:ext cx="4160520" cy="141732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761488"/>
            <a:ext cx="4160520" cy="64008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71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234440" y="292608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4.3/5.0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234440" y="35661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B4E8"/>
                </a:solidFill>
              </a:rPr>
              <a:t>User satisfaction with explanations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2761488"/>
            <a:ext cx="4160520" cy="141732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2" name="Shape 20"/>
          <p:cNvSpPr/>
          <p:nvPr/>
        </p:nvSpPr>
        <p:spPr>
          <a:xfrm>
            <a:off x="4846320" y="2761488"/>
            <a:ext cx="416052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2871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623560" y="292608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200ms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623560" y="35661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B4E8"/>
                </a:solidFill>
              </a:rPr>
              <a:t>API response time per request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315968"/>
            <a:ext cx="8229600" cy="77724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407408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  Training: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554480" y="4407408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B4E8"/>
                </a:solidFill>
              </a:rPr>
              <a:t>10000+ historical ventures · time-based split · Platt-calibrated to 0–100 · Backup XGBoost model auto-fails over · SHAP TreeExplainer provides exact (not approximate) attribution.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3200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7498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Every hard problem we hit and how we solved 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859536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54864" cy="85953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4358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Challenge: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28800" y="1243584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 Training Dataset Exists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499616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</a:rPr>
              <a:t> Solution: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828800" y="148132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Built our own — scored 500+ historical ventures from real exit/shutdown records combined with expert scoring methodology.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675120" y="1335024"/>
            <a:ext cx="1920240" cy="51206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1371600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  Rich multi-industry dataset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130552"/>
            <a:ext cx="8229600" cy="859536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130552"/>
            <a:ext cx="54864" cy="85953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20370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 Challenge: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828800" y="2203704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Combining Diverse Data Types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2459736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</a:rPr>
              <a:t> Solution: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28800" y="24414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86-feature pipeline with log transforms, interaction terms, z-scores, and one-hot encoding — all data types into a single numeric matrix.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675120" y="2295144"/>
            <a:ext cx="1920240" cy="51206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2331720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  86 unified features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090672"/>
            <a:ext cx="8229600" cy="859536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3090672"/>
            <a:ext cx="54864" cy="85953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16382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 Challenge: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828800" y="3163824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Making AI Transparent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3419856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</a:rPr>
              <a:t> Solution: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28800" y="340156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Integrated SHAP TreeExplainer — exact (not approximate) per-feature attributions with plain-English labels and projected improvement gains.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675120" y="3255264"/>
            <a:ext cx="1920240" cy="51206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8" name="Text 26"/>
          <p:cNvSpPr/>
          <p:nvPr/>
        </p:nvSpPr>
        <p:spPr>
          <a:xfrm>
            <a:off x="6766560" y="3291840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  Every score fully explained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7200" y="4050792"/>
            <a:ext cx="8229600" cy="859536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4050792"/>
            <a:ext cx="54864" cy="85953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412394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 Challenge: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828800" y="4123944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Live APIs Failing / Rate Limits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4379976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</a:rPr>
              <a:t> Solution: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828800" y="4361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Graceful fallback: if any of the 4 APIs (Trends, World Bank, Reddit, GDELT) is down, trusted CSV data fills the gap — the quality_label field informs the user.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675120" y="4215384"/>
            <a:ext cx="1920240" cy="51206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36" name="Text 34"/>
          <p:cNvSpPr/>
          <p:nvPr/>
        </p:nvSpPr>
        <p:spPr>
          <a:xfrm>
            <a:off x="6766560" y="4251960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59669"/>
                </a:solidFill>
              </a:rPr>
              <a:t>  100% uptime guaranteed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4572000" cy="4572000"/>
          </a:xfrm>
          <a:prstGeom prst="ellipse">
            <a:avLst/>
          </a:prstGeom>
          <a:solidFill>
            <a:srgbClr val="1E9EB5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2004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7498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B4E8"/>
                </a:solidFill>
              </a:rPr>
              <a:t>Three audiences — one platform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2743200" cy="388620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143000"/>
            <a:ext cx="2743200" cy="73152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16642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Entrepreneurs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8DEE"/>
                </a:solidFill>
              </a:rPr>
              <a:t>Validate ideas before burning time and money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33172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BA0"/>
                </a:solidFill>
              </a:rPr>
              <a:t>Sample questions: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2560320" cy="3291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606040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"Is my fintech idea viable in Kenya?"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2560320" cy="3291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990088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"How much does raising $200K help my score?"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328416"/>
            <a:ext cx="2560320" cy="3291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374136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"Which of my 3 ideas should I build first?"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767328"/>
            <a:ext cx="2560320" cy="475488"/>
          </a:xfrm>
          <a:prstGeom prst="rect">
            <a:avLst/>
          </a:prstGeom>
          <a:solidFill>
            <a:srgbClr val="5B8DEE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3822192"/>
            <a:ext cx="2395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 Avoid the 90% failure rate with data-driven validation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01568" y="1143000"/>
            <a:ext cx="2743200" cy="388620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1" name="Shape 19"/>
          <p:cNvSpPr/>
          <p:nvPr/>
        </p:nvSpPr>
        <p:spPr>
          <a:xfrm>
            <a:off x="3401568" y="1143000"/>
            <a:ext cx="2743200" cy="73152"/>
          </a:xfrm>
          <a:prstGeom prst="rect">
            <a:avLst/>
          </a:prstGeom>
          <a:solidFill>
            <a:srgbClr val="1E9EB5"/>
          </a:solidFill>
          <a:ln/>
        </p:spPr>
      </p:sp>
      <p:sp>
        <p:nvSpPr>
          <p:cNvPr id="22" name="Text 20"/>
          <p:cNvSpPr/>
          <p:nvPr/>
        </p:nvSpPr>
        <p:spPr>
          <a:xfrm>
            <a:off x="3401568" y="1234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3493008" y="16642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Investors &amp; VCs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93008" y="1965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1E9EB5"/>
                </a:solidFill>
              </a:rPr>
              <a:t>Screen opportunities with objective market signals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93008" y="233172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BA0"/>
                </a:solidFill>
              </a:rPr>
              <a:t>Sample questions: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3008" y="2560320"/>
            <a:ext cx="2560320" cy="3291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7" name="Text 25"/>
          <p:cNvSpPr/>
          <p:nvPr/>
        </p:nvSpPr>
        <p:spPr>
          <a:xfrm>
            <a:off x="3566160" y="2606040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"Compare 20 pitch deck submissions at once"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493008" y="2944368"/>
            <a:ext cx="2560320" cy="3291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29" name="Text 27"/>
          <p:cNvSpPr/>
          <p:nvPr/>
        </p:nvSpPr>
        <p:spPr>
          <a:xfrm>
            <a:off x="3566160" y="2990088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"Which sectors have rising trend signals this quarter?"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493008" y="3328416"/>
            <a:ext cx="2560320" cy="3291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31" name="Text 29"/>
          <p:cNvSpPr/>
          <p:nvPr/>
        </p:nvSpPr>
        <p:spPr>
          <a:xfrm>
            <a:off x="3566160" y="3374136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"Benchmark this deal against sector percentile"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93008" y="3767328"/>
            <a:ext cx="2560320" cy="475488"/>
          </a:xfrm>
          <a:prstGeom prst="rect">
            <a:avLst/>
          </a:prstGeom>
          <a:solidFill>
            <a:srgbClr val="1E9EB5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566160" y="3822192"/>
            <a:ext cx="2395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Spend due-diligence time only on top prospects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345936" y="1143000"/>
            <a:ext cx="2743200" cy="388620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35" name="Shape 33"/>
          <p:cNvSpPr/>
          <p:nvPr/>
        </p:nvSpPr>
        <p:spPr>
          <a:xfrm>
            <a:off x="6345936" y="1143000"/>
            <a:ext cx="2743200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6" name="Text 34"/>
          <p:cNvSpPr/>
          <p:nvPr/>
        </p:nvSpPr>
        <p:spPr>
          <a:xfrm>
            <a:off x="6345936" y="1234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6437376" y="16642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Innovation Teams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437376" y="1965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59669"/>
                </a:solidFill>
              </a:rPr>
              <a:t>Systematically evaluate internal project proposals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37376" y="233172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BA0"/>
                </a:solidFill>
              </a:rPr>
              <a:t>Sample questions: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437376" y="2560320"/>
            <a:ext cx="2560320" cy="3291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41" name="Text 39"/>
          <p:cNvSpPr/>
          <p:nvPr/>
        </p:nvSpPr>
        <p:spPr>
          <a:xfrm>
            <a:off x="6510528" y="2606040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"Score our 5 internal innovation projects"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37376" y="2944368"/>
            <a:ext cx="2560320" cy="3291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43" name="Text 41"/>
          <p:cNvSpPr/>
          <p:nvPr/>
        </p:nvSpPr>
        <p:spPr>
          <a:xfrm>
            <a:off x="6510528" y="2990088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"What market should we expand into next?"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37376" y="3328416"/>
            <a:ext cx="2560320" cy="329184"/>
          </a:xfrm>
          <a:prstGeom prst="rect">
            <a:avLst/>
          </a:prstGeom>
          <a:solidFill>
            <a:srgbClr val="1E3A6E"/>
          </a:solidFill>
          <a:ln/>
        </p:spPr>
      </p:sp>
      <p:sp>
        <p:nvSpPr>
          <p:cNvPr id="45" name="Text 43"/>
          <p:cNvSpPr/>
          <p:nvPr/>
        </p:nvSpPr>
        <p:spPr>
          <a:xfrm>
            <a:off x="6510528" y="3374136"/>
            <a:ext cx="2414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B4E8"/>
                </a:solidFill>
              </a:rPr>
              <a:t>"Show leadership a data-backed recommendation"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37376" y="3767328"/>
            <a:ext cx="2560320" cy="475488"/>
          </a:xfrm>
          <a:prstGeom prst="rect">
            <a:avLst/>
          </a:prstGeom>
          <a:solidFill>
            <a:srgbClr val="059669">
              <a:alpha val="20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6510528" y="3822192"/>
            <a:ext cx="2395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Replace gut-feel with systematic, repeatable analysis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F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5B8DEE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743200"/>
            <a:ext cx="3200400" cy="3200400"/>
          </a:xfrm>
          <a:prstGeom prst="ellipse">
            <a:avLst/>
          </a:prstGeom>
          <a:solidFill>
            <a:srgbClr val="05966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20040"/>
            <a:ext cx="64008" cy="402336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32004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160520" cy="1508760"/>
          </a:xfrm>
          <a:prstGeom prst="rect">
            <a:avLst/>
          </a:prstGeom>
          <a:solidFill>
            <a:srgbClr val="243564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73152" cy="1508760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14300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43000" y="1179576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 Data, Not Guesswork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3840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B4E8"/>
                </a:solidFill>
              </a:rPr>
              <a:t>4 live APIs feed the model every request — 86 features updated in real time, with transparent CSV fallback and quality scoring.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4160520" cy="150876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051560"/>
            <a:ext cx="73152" cy="1508760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14300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32120" y="1179576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Transparent by Design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1508760"/>
            <a:ext cx="3840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B4E8"/>
                </a:solidFill>
              </a:rPr>
              <a:t>SHAP TreeExplainer provides exact attributions. Every score comes with a breakdown — users always know why and what to fix.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79192"/>
            <a:ext cx="4160520" cy="150876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79192"/>
            <a:ext cx="73152" cy="1508760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77063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143000" y="2807208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Two Modes, One Model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136392"/>
            <a:ext cx="3840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B4E8"/>
                </a:solidFill>
              </a:rPr>
              <a:t>Entrepreneur mode focuses on growth path. Investor mode emphasises ecosystem, macro, and portfolio fit — same model, tailored narratives.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46320" y="2679192"/>
            <a:ext cx="4160520" cy="150876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2" name="Shape 20"/>
          <p:cNvSpPr/>
          <p:nvPr/>
        </p:nvSpPr>
        <p:spPr>
          <a:xfrm>
            <a:off x="4846320" y="2679192"/>
            <a:ext cx="73152" cy="1508760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77063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532120" y="2807208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Built for Production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0" y="3136392"/>
            <a:ext cx="3840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B4E8"/>
                </a:solidFill>
              </a:rPr>
              <a:t>FastAPI backend · LightGBM + XGBoost fallback · CORS-enabled REST API · Sub-200ms · Deployable as white-label SaaS.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0352" y="4333867"/>
            <a:ext cx="8229600" cy="621792"/>
          </a:xfrm>
          <a:prstGeom prst="rect">
            <a:avLst/>
          </a:prstGeom>
          <a:solidFill>
            <a:srgbClr val="1E3A6E"/>
          </a:solidFill>
          <a:ln w="12700">
            <a:solidFill>
              <a:srgbClr val="5B8D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4462272"/>
            <a:ext cx="1426464" cy="3611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C4F0"/>
                </a:solidFill>
              </a:rPr>
              <a:t> Next Steps: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084832" y="4462272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3B4E8"/>
                </a:solidFill>
              </a:rPr>
              <a:t>Crunchbase API · User accounts &amp; saved portfolios · Industry sub-models · PDF report export · B2B white-label licensing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0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457200"/>
            <a:ext cx="7315200" cy="7315200"/>
          </a:xfrm>
          <a:prstGeom prst="ellipse">
            <a:avLst/>
          </a:prstGeom>
          <a:solidFill>
            <a:srgbClr val="5B8DEE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0" y="5029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5B8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B4E8"/>
                </a:solidFill>
              </a:rPr>
              <a:t>Opportunity Scout AI  ·  LightGBM + SHAP  ·  4 Live APIs  ·  Capstone 2025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743200"/>
            <a:ext cx="1417320" cy="77724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743200"/>
            <a:ext cx="1417320" cy="54864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834640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20040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B4E8"/>
                </a:solidFill>
              </a:rPr>
              <a:t>Features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377440" y="2743200"/>
            <a:ext cx="1417320" cy="77724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2743200"/>
            <a:ext cx="1417320" cy="54864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2" name="Text 10"/>
          <p:cNvSpPr/>
          <p:nvPr/>
        </p:nvSpPr>
        <p:spPr>
          <a:xfrm>
            <a:off x="2377440" y="2834640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APIs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377440" y="320040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B4E8"/>
                </a:solidFill>
              </a:rPr>
              <a:t>Live Sources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977640" y="2743200"/>
            <a:ext cx="1417320" cy="77724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5" name="Shape 13"/>
          <p:cNvSpPr/>
          <p:nvPr/>
        </p:nvSpPr>
        <p:spPr>
          <a:xfrm>
            <a:off x="3977640" y="2743200"/>
            <a:ext cx="1417320" cy="54864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16" name="Text 14"/>
          <p:cNvSpPr/>
          <p:nvPr/>
        </p:nvSpPr>
        <p:spPr>
          <a:xfrm>
            <a:off x="3977640" y="2834640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977640" y="320040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B4E8"/>
                </a:solidFill>
              </a:rPr>
              <a:t>Score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77840" y="2743200"/>
            <a:ext cx="1417320" cy="77724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19" name="Shape 17"/>
          <p:cNvSpPr/>
          <p:nvPr/>
        </p:nvSpPr>
        <p:spPr>
          <a:xfrm>
            <a:off x="5577840" y="2743200"/>
            <a:ext cx="1417320" cy="54864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20" name="Text 18"/>
          <p:cNvSpPr/>
          <p:nvPr/>
        </p:nvSpPr>
        <p:spPr>
          <a:xfrm>
            <a:off x="5577840" y="2834640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577840" y="320040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B4E8"/>
                </a:solidFill>
              </a:rPr>
              <a:t>Explained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78040" y="2743200"/>
            <a:ext cx="1417320" cy="777240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3" name="Shape 21"/>
          <p:cNvSpPr/>
          <p:nvPr/>
        </p:nvSpPr>
        <p:spPr>
          <a:xfrm>
            <a:off x="7178040" y="2743200"/>
            <a:ext cx="1417320" cy="54864"/>
          </a:xfrm>
          <a:prstGeom prst="rect">
            <a:avLst/>
          </a:prstGeom>
          <a:solidFill>
            <a:srgbClr val="5B8DEE"/>
          </a:solidFill>
          <a:ln/>
        </p:spPr>
      </p:sp>
      <p:sp>
        <p:nvSpPr>
          <p:cNvPr id="24" name="Text 22"/>
          <p:cNvSpPr/>
          <p:nvPr/>
        </p:nvSpPr>
        <p:spPr>
          <a:xfrm>
            <a:off x="7178040" y="2834640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&lt;200ms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178040" y="320040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B4E8"/>
                </a:solidFill>
              </a:rPr>
              <a:t>Response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365760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Anticipated Questions: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201168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97764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How accurate is the model? → MAE &lt; 10 pts, validated on time-held-out ventures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4178808"/>
            <a:ext cx="8229600" cy="201168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197096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What happens when APIs are down? → Auto-fallback to CSV; quality_label shows user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4398264"/>
            <a:ext cx="8229600" cy="201168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416552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Why LightGBM over neural networks? → Faster, exact SHAP support, works on sparse data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4617720"/>
            <a:ext cx="8229600" cy="201168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4636008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What's the difference between modes? → Same model — different narrative framing for recommendations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837176"/>
            <a:ext cx="8229600" cy="201168"/>
          </a:xfrm>
          <a:prstGeom prst="rect">
            <a:avLst/>
          </a:prstGeom>
          <a:solidFill>
            <a:srgbClr val="243564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855464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3B4E8"/>
                </a:solidFill>
              </a:rPr>
              <a:t>Can it integrate with other platforms? → Yes, full REST API with CORS; deployable as white-label SaaS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2281</Words>
  <Application>Microsoft Office PowerPoint</Application>
  <PresentationFormat>On-screen Show (16:9)</PresentationFormat>
  <Paragraphs>358</Paragraphs>
  <Slides>22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Opportunity Scout AI</dc:title>
  <dc:subject>PptxGenJS Presentation</dc:subject>
  <dc:creator>PptxGenJS</dc:creator>
  <cp:lastModifiedBy>Jeniffer Mbugua</cp:lastModifiedBy>
  <cp:revision>4</cp:revision>
  <dcterms:created xsi:type="dcterms:W3CDTF">2026-02-25T17:40:49Z</dcterms:created>
  <dcterms:modified xsi:type="dcterms:W3CDTF">2026-02-27T11:28:57Z</dcterms:modified>
</cp:coreProperties>
</file>